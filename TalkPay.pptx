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54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 Revenue (AED)</c:v>
                </c:pt>
              </c:strCache>
            </c:strRef>
          </c:tx>
          <c:spPr>
            <a:solidFill>
              <a:srgbClr val="1A56DB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600000</c:v>
                </c:pt>
                <c:pt idx="1">
                  <c:v>2250000</c:v>
                </c:pt>
                <c:pt idx="2">
                  <c:v>6000000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4918-4145-83AD-6F58CD8C0C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chemeClr val="bg1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102B5C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chemeClr val="bg1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35FB08-AF31-4398-96EC-9416D03C0BED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6448D-C978-4F76-901D-54083C964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2257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448D-C978-4F76-901D-54083C964666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33351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448D-C978-4F76-901D-54083C964666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996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illustrations/speech-bubble-comic-icon-symbol-1426773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github.com/Sonalika0696/talkpay" TargetMode="External"/><Relationship Id="rId4" Type="http://schemas.openxmlformats.org/officeDocument/2006/relationships/hyperlink" Target="https://talkpay.lovable.app/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onalika0696/talkpay" TargetMode="External"/><Relationship Id="rId2" Type="http://schemas.openxmlformats.org/officeDocument/2006/relationships/hyperlink" Target="https://talkpay.lovable.app/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4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2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TextBox 3"/>
          <p:cNvSpPr txBox="1"/>
          <p:nvPr/>
        </p:nvSpPr>
        <p:spPr>
          <a:xfrm>
            <a:off x="320040" y="502920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12C49A"/>
                </a:solidFill>
              </a:rPr>
              <a:t>TALKPAY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574489"/>
            <a:ext cx="8503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</a:rPr>
              <a:t>Pay Anyone. Anywhere.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2018827"/>
            <a:ext cx="8503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2D70F7"/>
                </a:solidFill>
              </a:rPr>
              <a:t>Just Say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606040"/>
            <a:ext cx="6217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C8D8F0"/>
                </a:solidFill>
              </a:rPr>
              <a:t>The voice-first AI financial assistant that removes friction between
people and money — built for the next billion users.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3337560"/>
            <a:ext cx="1965960" cy="347472"/>
          </a:xfrm>
          <a:prstGeom prst="rect">
            <a:avLst/>
          </a:prstGeom>
          <a:solidFill>
            <a:srgbClr val="0C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Rectangle 8"/>
          <p:cNvSpPr/>
          <p:nvPr/>
        </p:nvSpPr>
        <p:spPr>
          <a:xfrm>
            <a:off x="320040" y="3337560"/>
            <a:ext cx="1965960" cy="34747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457200" y="3383280"/>
            <a:ext cx="17830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C8D8F0"/>
                </a:solidFill>
              </a:rPr>
              <a:t>🎙  Voice-First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04872" y="3337560"/>
            <a:ext cx="1965960" cy="347472"/>
          </a:xfrm>
          <a:prstGeom prst="rect">
            <a:avLst/>
          </a:prstGeom>
          <a:solidFill>
            <a:srgbClr val="0C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Rectangle 11"/>
          <p:cNvSpPr/>
          <p:nvPr/>
        </p:nvSpPr>
        <p:spPr>
          <a:xfrm>
            <a:off x="2404872" y="3337560"/>
            <a:ext cx="1965960" cy="34747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2542032" y="3383280"/>
            <a:ext cx="17830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C8D8F0"/>
                </a:solidFill>
              </a:rPr>
              <a:t>🔒  Encrypted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9704" y="3337560"/>
            <a:ext cx="1965960" cy="347472"/>
          </a:xfrm>
          <a:prstGeom prst="rect">
            <a:avLst/>
          </a:prstGeom>
          <a:solidFill>
            <a:srgbClr val="0C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Rectangle 14"/>
          <p:cNvSpPr/>
          <p:nvPr/>
        </p:nvSpPr>
        <p:spPr>
          <a:xfrm>
            <a:off x="4489704" y="3337560"/>
            <a:ext cx="1965960" cy="34747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4626864" y="3383280"/>
            <a:ext cx="17830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8F0"/>
                </a:solidFill>
              </a:rPr>
              <a:t>⚡  &lt;2s Execution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74536" y="3337560"/>
            <a:ext cx="1965960" cy="347472"/>
          </a:xfrm>
          <a:prstGeom prst="rect">
            <a:avLst/>
          </a:prstGeom>
          <a:solidFill>
            <a:srgbClr val="0C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Rectangle 17"/>
          <p:cNvSpPr/>
          <p:nvPr/>
        </p:nvSpPr>
        <p:spPr>
          <a:xfrm>
            <a:off x="6574536" y="3337560"/>
            <a:ext cx="1965960" cy="34747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TextBox 18"/>
          <p:cNvSpPr txBox="1"/>
          <p:nvPr/>
        </p:nvSpPr>
        <p:spPr>
          <a:xfrm>
            <a:off x="6711696" y="3383280"/>
            <a:ext cx="17830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8F0"/>
                </a:solidFill>
              </a:rPr>
              <a:t>🌍  UAE Fintech Ready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0320" y="4078159"/>
            <a:ext cx="4523423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 dirty="0">
                <a:solidFill>
                  <a:schemeClr val="bg1"/>
                </a:solidFill>
              </a:rPr>
              <a:t>Presented by  Sonalika  </a:t>
            </a:r>
            <a:endParaRPr lang="en-IN" sz="1400" b="1" i="0" dirty="0">
              <a:solidFill>
                <a:schemeClr val="bg1"/>
              </a:solidFill>
            </a:endParaRPr>
          </a:p>
          <a:p>
            <a:r>
              <a:rPr sz="1100" b="1" i="0" dirty="0">
                <a:solidFill>
                  <a:schemeClr val="bg1"/>
                </a:solidFill>
              </a:rPr>
              <a:t>Middlesex University Dubai </a:t>
            </a:r>
            <a:endParaRPr lang="en-IN" sz="1100" b="1" i="0" dirty="0">
              <a:solidFill>
                <a:schemeClr val="bg1"/>
              </a:solidFill>
            </a:endParaRPr>
          </a:p>
          <a:p>
            <a:r>
              <a:rPr lang="en-IN" sz="1100" b="1" i="0" dirty="0" err="1">
                <a:solidFill>
                  <a:schemeClr val="bg1"/>
                </a:solidFill>
              </a:rPr>
              <a:t>Msc</a:t>
            </a:r>
            <a:r>
              <a:rPr lang="en-IN" sz="1100" b="1" i="0" dirty="0">
                <a:solidFill>
                  <a:schemeClr val="bg1"/>
                </a:solidFill>
              </a:rPr>
              <a:t> Financial Technology</a:t>
            </a:r>
          </a:p>
          <a:p>
            <a:r>
              <a:rPr lang="en-IN" sz="1100" b="1" i="0" dirty="0">
                <a:solidFill>
                  <a:schemeClr val="bg1"/>
                </a:solidFill>
              </a:rPr>
              <a:t>MISIS - M01087698</a:t>
            </a:r>
            <a:endParaRPr sz="1100" b="1" i="0" dirty="0">
              <a:solidFill>
                <a:schemeClr val="bg1"/>
              </a:solidFill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41405D2-A819-9FF1-A1B8-E999BA8A8A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472684" y="998350"/>
            <a:ext cx="3071813" cy="18953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softEdge rad="112500"/>
          </a:effec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F1568B9-600D-445F-F831-E711B4710BE6}"/>
              </a:ext>
            </a:extLst>
          </p:cNvPr>
          <p:cNvSpPr txBox="1"/>
          <p:nvPr/>
        </p:nvSpPr>
        <p:spPr>
          <a:xfrm>
            <a:off x="5472684" y="4175514"/>
            <a:ext cx="35828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dirty="0">
                <a:solidFill>
                  <a:srgbClr val="FFC000"/>
                </a:solidFill>
              </a:rPr>
              <a:t>🔗  </a:t>
            </a:r>
            <a:r>
              <a:rPr sz="1400" b="0" i="0" dirty="0">
                <a:solidFill>
                  <a:schemeClr val="bg1"/>
                </a:solidFill>
              </a:rPr>
              <a:t>Live prototype: </a:t>
            </a:r>
            <a:r>
              <a:rPr sz="1400" b="0" i="0" dirty="0" err="1">
                <a:solidFill>
                  <a:srgbClr val="FFC000"/>
                </a:solidFill>
                <a:hlinkClick r:id="rId4"/>
              </a:rPr>
              <a:t>talkpay.lovable.app</a:t>
            </a:r>
            <a:r>
              <a:rPr sz="1400" b="0" i="0" dirty="0">
                <a:solidFill>
                  <a:srgbClr val="FFC000"/>
                </a:solidFill>
                <a:hlinkClick r:id="rId4"/>
              </a:rPr>
              <a:t> </a:t>
            </a:r>
            <a:r>
              <a:rPr sz="1400" b="0" i="0" dirty="0">
                <a:solidFill>
                  <a:srgbClr val="FFC000"/>
                </a:solidFill>
              </a:rPr>
              <a:t>  </a:t>
            </a:r>
            <a:endParaRPr lang="en-IN" sz="1400" b="0" i="0" dirty="0">
              <a:solidFill>
                <a:srgbClr val="FFC000"/>
              </a:solidFill>
            </a:endParaRPr>
          </a:p>
          <a:p>
            <a:r>
              <a:rPr lang="en-IN" sz="1400" dirty="0">
                <a:solidFill>
                  <a:srgbClr val="FFC000"/>
                </a:solidFill>
              </a:rPr>
              <a:t>🔗 </a:t>
            </a:r>
            <a:r>
              <a:rPr lang="en-IN" sz="1400" dirty="0" err="1">
                <a:solidFill>
                  <a:srgbClr val="FFC000"/>
                </a:solidFill>
                <a:hlinkClick r:id="rId5"/>
              </a:rPr>
              <a:t>Github</a:t>
            </a:r>
            <a:r>
              <a:rPr lang="en-IN" sz="1400" dirty="0">
                <a:solidFill>
                  <a:srgbClr val="FFC000"/>
                </a:solidFill>
                <a:hlinkClick r:id="rId5"/>
              </a:rPr>
              <a:t>: </a:t>
            </a:r>
            <a:r>
              <a:rPr lang="en-IN" sz="1400" dirty="0" err="1">
                <a:solidFill>
                  <a:srgbClr val="FFC000"/>
                </a:solidFill>
                <a:hlinkClick r:id="rId5"/>
              </a:rPr>
              <a:t>TalkPay</a:t>
            </a:r>
            <a:endParaRPr sz="1400" b="0" i="0" dirty="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4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8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2C49A"/>
                </a:solidFill>
              </a:rPr>
              <a:t>TALKPAY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6400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C93BB"/>
                </a:solidFill>
              </a:rPr>
              <a:t>01 —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40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C93BB"/>
                </a:solidFill>
              </a:rPr>
              <a:t>2/12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365760"/>
            <a:ext cx="5486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12C49A"/>
                </a:solidFill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38912"/>
            <a:ext cx="8321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FFFFFF"/>
                </a:solidFill>
              </a:rPr>
              <a:t>Banking is broken </a:t>
            </a:r>
            <a:r>
              <a:rPr sz="2400" b="1" dirty="0">
                <a:solidFill>
                  <a:srgbClr val="2D70F7"/>
                </a:solidFill>
              </a:rPr>
              <a:t>for billions.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207008"/>
            <a:ext cx="2743200" cy="1115568"/>
          </a:xfrm>
          <a:prstGeom prst="rect">
            <a:avLst/>
          </a:prstGeom>
          <a:solidFill>
            <a:srgbClr val="0C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" y="1207008"/>
            <a:ext cx="50292" cy="11155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6072" y="1298448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D70F7"/>
                </a:solidFill>
              </a:rPr>
              <a:t>$150T+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1810512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Global payments annually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2084831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C93BB"/>
                </a:solidFill>
              </a:rPr>
              <a:t>…yet 70% of mobile checkouts fail to complete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9272" y="1207008"/>
            <a:ext cx="2743200" cy="1115568"/>
          </a:xfrm>
          <a:prstGeom prst="rect">
            <a:avLst/>
          </a:prstGeom>
          <a:solidFill>
            <a:srgbClr val="0C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19272" y="1207008"/>
            <a:ext cx="50292" cy="1115568"/>
          </a:xfrm>
          <a:prstGeom prst="rect">
            <a:avLst/>
          </a:prstGeom>
          <a:solidFill>
            <a:srgbClr val="0AA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83864" y="1298448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2C49A"/>
                </a:solidFill>
              </a:rPr>
              <a:t>1.4B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3864" y="1810512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Unbanked adults worldwide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83864" y="2084831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C93BB"/>
                </a:solidFill>
              </a:rPr>
              <a:t>…excluded by complex app-based systems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27064" y="1207008"/>
            <a:ext cx="2743200" cy="1115568"/>
          </a:xfrm>
          <a:prstGeom prst="rect">
            <a:avLst/>
          </a:prstGeom>
          <a:solidFill>
            <a:srgbClr val="0C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27064" y="1207008"/>
            <a:ext cx="50292" cy="11155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91656" y="1298448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D70F7"/>
                </a:solidFill>
              </a:rPr>
              <a:t>7+ taps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1810512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Average to send one payment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656" y="2084831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C93BB"/>
                </a:solidFill>
              </a:rPr>
              <a:t>…friction kills conversion and trust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2487168"/>
            <a:ext cx="4206240" cy="1078992"/>
          </a:xfrm>
          <a:prstGeom prst="rect">
            <a:avLst/>
          </a:prstGeom>
          <a:solidFill>
            <a:srgbClr val="0C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2615184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🚫 No Conversational UX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2944368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C93BB"/>
                </a:solidFill>
              </a:rPr>
              <a:t>Payment apps speak in forms, not language. Users must navigate menus, not conversations.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82312" y="2487168"/>
            <a:ext cx="4206240" cy="1078992"/>
          </a:xfrm>
          <a:prstGeom prst="rect">
            <a:avLst/>
          </a:prstGeom>
          <a:solidFill>
            <a:srgbClr val="0C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965192" y="2615184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🔗 Intermediary Overhead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65192" y="2944368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C93BB"/>
                </a:solidFill>
              </a:rPr>
              <a:t>Every transfer routes through 3–5 middlemen — adding cost, latency, and failure points.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3675888"/>
            <a:ext cx="4206240" cy="1078992"/>
          </a:xfrm>
          <a:prstGeom prst="rect">
            <a:avLst/>
          </a:prstGeom>
          <a:solidFill>
            <a:srgbClr val="0C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3803904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♿ Accessibility Gap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4133088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C93BB"/>
                </a:solidFill>
              </a:rPr>
              <a:t>Elderly, visually impaired, and low-literacy users are systemically excluded from digital finance.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82312" y="3675888"/>
            <a:ext cx="4206240" cy="1078992"/>
          </a:xfrm>
          <a:prstGeom prst="rect">
            <a:avLst/>
          </a:prstGeom>
          <a:solidFill>
            <a:srgbClr val="0C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965192" y="3803904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📵 Connectivity Barrier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65192" y="4133088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C93BB"/>
                </a:solidFill>
              </a:rPr>
              <a:t>Modern apps demand smartphones + high-speed data — locking out emerging market users.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4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8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2C49A"/>
                </a:solidFill>
              </a:rPr>
              <a:t>TALKPAY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6400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C93BB"/>
                </a:solidFill>
              </a:rPr>
              <a:t>02 —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40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C93BB"/>
                </a:solidFill>
              </a:rPr>
              <a:t>3/12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4052" y="356616"/>
            <a:ext cx="5486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12C49A"/>
                </a:solidFill>
              </a:rPr>
              <a:t>THE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38912"/>
            <a:ext cx="8321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Introducing </a:t>
            </a:r>
            <a:r>
              <a:rPr sz="2400" b="1">
                <a:solidFill>
                  <a:srgbClr val="12C49A"/>
                </a:solidFill>
              </a:rPr>
              <a:t>TalkPay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170432"/>
            <a:ext cx="4206240" cy="822960"/>
          </a:xfrm>
          <a:prstGeom prst="rect">
            <a:avLst/>
          </a:prstGeom>
          <a:solidFill>
            <a:srgbClr val="0C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371600"/>
            <a:ext cx="365760" cy="3657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548640" y="1432752"/>
            <a:ext cx="365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280160"/>
            <a:ext cx="3474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Voice-First Payment Execution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1591056"/>
            <a:ext cx="3474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C93BB"/>
                </a:solidFill>
              </a:rPr>
              <a:t>Say "Send 200 AED to Sara" — AI extracts intent, verifies, executes in under 2 seconds.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103120"/>
            <a:ext cx="4206240" cy="822960"/>
          </a:xfrm>
          <a:prstGeom prst="rect">
            <a:avLst/>
          </a:prstGeom>
          <a:solidFill>
            <a:srgbClr val="0C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Rectangle 14"/>
          <p:cNvSpPr/>
          <p:nvPr/>
        </p:nvSpPr>
        <p:spPr>
          <a:xfrm>
            <a:off x="548640" y="2304288"/>
            <a:ext cx="365760" cy="3657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548640" y="2365440"/>
            <a:ext cx="365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2212848"/>
            <a:ext cx="3474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True P2P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2523744"/>
            <a:ext cx="3474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C93BB"/>
                </a:solidFill>
              </a:rPr>
              <a:t>No gateways. No clearing houses. Direct credit-debit between verified accounts.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035808"/>
            <a:ext cx="4206240" cy="822960"/>
          </a:xfrm>
          <a:prstGeom prst="rect">
            <a:avLst/>
          </a:prstGeom>
          <a:solidFill>
            <a:srgbClr val="0C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Rectangle 19"/>
          <p:cNvSpPr/>
          <p:nvPr/>
        </p:nvSpPr>
        <p:spPr>
          <a:xfrm>
            <a:off x="548640" y="3236976"/>
            <a:ext cx="365760" cy="365760"/>
          </a:xfrm>
          <a:prstGeom prst="rect">
            <a:avLst/>
          </a:prstGeom>
          <a:solidFill>
            <a:srgbClr val="0AA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1" name="TextBox 20"/>
          <p:cNvSpPr txBox="1"/>
          <p:nvPr/>
        </p:nvSpPr>
        <p:spPr>
          <a:xfrm>
            <a:off x="548640" y="3298127"/>
            <a:ext cx="365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3145536"/>
            <a:ext cx="3474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Multi-Layer 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3456432"/>
            <a:ext cx="3474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C93BB"/>
                </a:solidFill>
              </a:rPr>
              <a:t>Biometric auth + OTP + PIN + real-time fraud scoring — all AI-orchestrated.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3968496"/>
            <a:ext cx="4206240" cy="822960"/>
          </a:xfrm>
          <a:prstGeom prst="rect">
            <a:avLst/>
          </a:prstGeom>
          <a:solidFill>
            <a:srgbClr val="0C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8640" y="4169663"/>
            <a:ext cx="365760" cy="365760"/>
          </a:xfrm>
          <a:prstGeom prst="rect">
            <a:avLst/>
          </a:prstGeom>
          <a:solidFill>
            <a:srgbClr val="0AA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6" name="TextBox 25"/>
          <p:cNvSpPr txBox="1"/>
          <p:nvPr/>
        </p:nvSpPr>
        <p:spPr>
          <a:xfrm>
            <a:off x="548640" y="4230816"/>
            <a:ext cx="365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" y="4078224"/>
            <a:ext cx="3474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Accessible by Design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4389120"/>
            <a:ext cx="3474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C93BB"/>
                </a:solidFill>
              </a:rPr>
              <a:t>Works on voice, chat, SMS, and IVR — reaching users without smartphones.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00600" y="1170432"/>
            <a:ext cx="3931920" cy="3611880"/>
          </a:xfrm>
          <a:prstGeom prst="rect">
            <a:avLst/>
          </a:prstGeom>
          <a:solidFill>
            <a:srgbClr val="1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956048" y="1280160"/>
            <a:ext cx="35478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93BB"/>
                </a:solidFill>
              </a:rPr>
              <a:t>🎙  LIVE — talkpay.lovable.app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9048" y="1664208"/>
            <a:ext cx="2468880" cy="34747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2" name="TextBox 31"/>
          <p:cNvSpPr txBox="1"/>
          <p:nvPr/>
        </p:nvSpPr>
        <p:spPr>
          <a:xfrm>
            <a:off x="6208776" y="172821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Send 200 AED to Sara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56048" y="2084831"/>
            <a:ext cx="3566160" cy="347472"/>
          </a:xfrm>
          <a:prstGeom prst="rect">
            <a:avLst/>
          </a:prstGeom>
          <a:solidFill>
            <a:srgbClr val="14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4" name="TextBox 33"/>
          <p:cNvSpPr txBox="1"/>
          <p:nvPr/>
        </p:nvSpPr>
        <p:spPr>
          <a:xfrm>
            <a:off x="5065776" y="2148839"/>
            <a:ext cx="3401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8F0"/>
                </a:solidFill>
              </a:rPr>
              <a:t>🤖 Found Sara Al-Hassan. Confirm: AED 200.00?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22008" y="2505456"/>
            <a:ext cx="1645920" cy="34747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6" name="TextBox 35"/>
          <p:cNvSpPr txBox="1"/>
          <p:nvPr/>
        </p:nvSpPr>
        <p:spPr>
          <a:xfrm>
            <a:off x="7031736" y="2569464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Yes, confirm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56048" y="2907792"/>
            <a:ext cx="3566160" cy="347472"/>
          </a:xfrm>
          <a:prstGeom prst="rect">
            <a:avLst/>
          </a:prstGeom>
          <a:solidFill>
            <a:srgbClr val="14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8" name="TextBox 37"/>
          <p:cNvSpPr txBox="1"/>
          <p:nvPr/>
        </p:nvSpPr>
        <p:spPr>
          <a:xfrm>
            <a:off x="5065776" y="2971800"/>
            <a:ext cx="3401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8F0"/>
                </a:solidFill>
              </a:rPr>
              <a:t>🔒 Enter your PIN to authenticate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70648" y="3310128"/>
            <a:ext cx="1097280" cy="34747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0" name="TextBox 39"/>
          <p:cNvSpPr txBox="1"/>
          <p:nvPr/>
        </p:nvSpPr>
        <p:spPr>
          <a:xfrm>
            <a:off x="7580376" y="3374136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●●●●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56048" y="3703320"/>
            <a:ext cx="3566160" cy="274320"/>
          </a:xfrm>
          <a:prstGeom prst="rect">
            <a:avLst/>
          </a:prstGeom>
          <a:solidFill>
            <a:srgbClr val="062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2" name="TextBox 41"/>
          <p:cNvSpPr txBox="1"/>
          <p:nvPr/>
        </p:nvSpPr>
        <p:spPr>
          <a:xfrm>
            <a:off x="5047488" y="3739896"/>
            <a:ext cx="34015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C49A"/>
                </a:solidFill>
              </a:rPr>
              <a:t>✓ Risk: LOW   ✓ Beneficiary verified   ✓ Balance OK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56048" y="4041648"/>
            <a:ext cx="3566160" cy="438912"/>
          </a:xfrm>
          <a:prstGeom prst="rect">
            <a:avLst/>
          </a:prstGeom>
          <a:solidFill>
            <a:srgbClr val="062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4" name="TextBox 43"/>
          <p:cNvSpPr txBox="1"/>
          <p:nvPr/>
        </p:nvSpPr>
        <p:spPr>
          <a:xfrm>
            <a:off x="5074920" y="4114800"/>
            <a:ext cx="340156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2C49A"/>
                </a:solidFill>
              </a:rPr>
              <a:t>✓  AED 200.00 sent to Sara Al-Hassan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74920" y="4297680"/>
            <a:ext cx="34015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dirty="0">
                <a:solidFill>
                  <a:srgbClr val="7C93BB"/>
                </a:solidFill>
              </a:rPr>
              <a:t>TXN-3901 · 1.7s · Audited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56048" y="4535424"/>
            <a:ext cx="356616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70F7"/>
                </a:solidFill>
              </a:rPr>
              <a:t>🔗  talkpay.lovable.app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51" y="0"/>
            <a:ext cx="9144000" cy="5143500"/>
          </a:xfrm>
          <a:prstGeom prst="rect">
            <a:avLst/>
          </a:prstGeom>
          <a:solidFill>
            <a:srgbClr val="04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8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2C49A"/>
                </a:solidFill>
              </a:rPr>
              <a:t>TALKPAY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6400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C93BB"/>
                </a:solidFill>
              </a:rPr>
              <a:t>03 — Product Demo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40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C93BB"/>
                </a:solidFill>
              </a:rPr>
              <a:t>4/12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8629" y="344328"/>
            <a:ext cx="5486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12C49A"/>
                </a:solidFill>
              </a:rPr>
              <a:t>THE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38912"/>
            <a:ext cx="8321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FFFFFF"/>
                </a:solidFill>
              </a:rPr>
              <a:t>Built. Deployed. </a:t>
            </a:r>
            <a:r>
              <a:rPr sz="2400" b="1" dirty="0">
                <a:solidFill>
                  <a:srgbClr val="12C49A"/>
                </a:solidFill>
              </a:rPr>
              <a:t>Live today.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207008"/>
            <a:ext cx="2743200" cy="3291840"/>
          </a:xfrm>
          <a:prstGeom prst="rect">
            <a:avLst/>
          </a:prstGeom>
          <a:solidFill>
            <a:srgbClr val="0C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" y="1207008"/>
            <a:ext cx="2743200" cy="411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554480" y="1371600"/>
            <a:ext cx="475488" cy="475488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54480" y="137160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975104"/>
            <a:ext cx="2487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</a:rPr>
              <a:t>Landing &amp; Onboarding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" y="2414016"/>
            <a:ext cx="109728" cy="109728"/>
          </a:xfrm>
          <a:prstGeom prst="rect">
            <a:avLst/>
          </a:prstGeom>
          <a:solidFill>
            <a:srgbClr val="12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5" name="TextBox 14"/>
          <p:cNvSpPr txBox="1"/>
          <p:nvPr/>
        </p:nvSpPr>
        <p:spPr>
          <a:xfrm>
            <a:off x="777240" y="2340864"/>
            <a:ext cx="2240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8F0"/>
                </a:solidFill>
              </a:rPr>
              <a:t>Pay-by-voice hero pitch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" y="2761488"/>
            <a:ext cx="109728" cy="109728"/>
          </a:xfrm>
          <a:prstGeom prst="rect">
            <a:avLst/>
          </a:prstGeom>
          <a:solidFill>
            <a:srgbClr val="12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7" name="TextBox 16"/>
          <p:cNvSpPr txBox="1"/>
          <p:nvPr/>
        </p:nvSpPr>
        <p:spPr>
          <a:xfrm>
            <a:off x="777240" y="2688336"/>
            <a:ext cx="2240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8F0"/>
                </a:solidFill>
              </a:rPr>
              <a:t>5-step account creation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72" y="3108960"/>
            <a:ext cx="109728" cy="109728"/>
          </a:xfrm>
          <a:prstGeom prst="rect">
            <a:avLst/>
          </a:prstGeom>
          <a:solidFill>
            <a:srgbClr val="12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9" name="TextBox 18"/>
          <p:cNvSpPr txBox="1"/>
          <p:nvPr/>
        </p:nvSpPr>
        <p:spPr>
          <a:xfrm>
            <a:off x="777240" y="3035808"/>
            <a:ext cx="2240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8F0"/>
                </a:solidFill>
              </a:rPr>
              <a:t>PIN + OTP verification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72" y="3456432"/>
            <a:ext cx="109728" cy="109728"/>
          </a:xfrm>
          <a:prstGeom prst="rect">
            <a:avLst/>
          </a:prstGeom>
          <a:solidFill>
            <a:srgbClr val="12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1" name="TextBox 20"/>
          <p:cNvSpPr txBox="1"/>
          <p:nvPr/>
        </p:nvSpPr>
        <p:spPr>
          <a:xfrm>
            <a:off x="777240" y="3383279"/>
            <a:ext cx="2240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8F0"/>
                </a:solidFill>
              </a:rPr>
              <a:t>Bank account linking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19272" y="1207008"/>
            <a:ext cx="2743200" cy="3291840"/>
          </a:xfrm>
          <a:prstGeom prst="rect">
            <a:avLst/>
          </a:prstGeom>
          <a:solidFill>
            <a:srgbClr val="0C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319272" y="1207008"/>
            <a:ext cx="2743200" cy="411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462272" y="1371600"/>
            <a:ext cx="475488" cy="475488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62272" y="137160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56432" y="1975104"/>
            <a:ext cx="2487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</a:rPr>
              <a:t>Voice Payment Engine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83864" y="2414016"/>
            <a:ext cx="109728" cy="109728"/>
          </a:xfrm>
          <a:prstGeom prst="rect">
            <a:avLst/>
          </a:prstGeom>
          <a:solidFill>
            <a:srgbClr val="12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8" name="TextBox 27"/>
          <p:cNvSpPr txBox="1"/>
          <p:nvPr/>
        </p:nvSpPr>
        <p:spPr>
          <a:xfrm>
            <a:off x="3685032" y="2340864"/>
            <a:ext cx="2240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8F0"/>
                </a:solidFill>
              </a:rPr>
              <a:t>Natural language input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83864" y="2761488"/>
            <a:ext cx="109728" cy="109728"/>
          </a:xfrm>
          <a:prstGeom prst="rect">
            <a:avLst/>
          </a:prstGeom>
          <a:solidFill>
            <a:srgbClr val="12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0" name="TextBox 29"/>
          <p:cNvSpPr txBox="1"/>
          <p:nvPr/>
        </p:nvSpPr>
        <p:spPr>
          <a:xfrm>
            <a:off x="3685032" y="2688336"/>
            <a:ext cx="2240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8F0"/>
                </a:solidFill>
              </a:rPr>
              <a:t>AI intent extraction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83864" y="3108960"/>
            <a:ext cx="109728" cy="109728"/>
          </a:xfrm>
          <a:prstGeom prst="rect">
            <a:avLst/>
          </a:prstGeom>
          <a:solidFill>
            <a:srgbClr val="12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2" name="TextBox 31"/>
          <p:cNvSpPr txBox="1"/>
          <p:nvPr/>
        </p:nvSpPr>
        <p:spPr>
          <a:xfrm>
            <a:off x="3685032" y="3035808"/>
            <a:ext cx="2240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8F0"/>
                </a:solidFill>
              </a:rPr>
              <a:t>Beneficiary email lookup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83864" y="3456432"/>
            <a:ext cx="109728" cy="109728"/>
          </a:xfrm>
          <a:prstGeom prst="rect">
            <a:avLst/>
          </a:prstGeom>
          <a:solidFill>
            <a:srgbClr val="12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4" name="TextBox 33"/>
          <p:cNvSpPr txBox="1"/>
          <p:nvPr/>
        </p:nvSpPr>
        <p:spPr>
          <a:xfrm>
            <a:off x="3685032" y="3383279"/>
            <a:ext cx="2240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8F0"/>
                </a:solidFill>
              </a:rPr>
              <a:t>Confirmation dialogue loop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27064" y="1207008"/>
            <a:ext cx="2743200" cy="3291840"/>
          </a:xfrm>
          <a:prstGeom prst="rect">
            <a:avLst/>
          </a:prstGeom>
          <a:solidFill>
            <a:srgbClr val="0C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227064" y="1207008"/>
            <a:ext cx="2743200" cy="41148"/>
          </a:xfrm>
          <a:prstGeom prst="rect">
            <a:avLst/>
          </a:prstGeom>
          <a:solidFill>
            <a:srgbClr val="0AA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7370064" y="1371600"/>
            <a:ext cx="475488" cy="475488"/>
          </a:xfrm>
          <a:prstGeom prst="ellipse">
            <a:avLst/>
          </a:prstGeom>
          <a:solidFill>
            <a:srgbClr val="0AA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70064" y="137160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4224" y="1975104"/>
            <a:ext cx="2487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</a:rPr>
              <a:t>Security Dashboard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91656" y="2414016"/>
            <a:ext cx="109728" cy="109728"/>
          </a:xfrm>
          <a:prstGeom prst="rect">
            <a:avLst/>
          </a:prstGeom>
          <a:solidFill>
            <a:srgbClr val="12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1" name="TextBox 40"/>
          <p:cNvSpPr txBox="1"/>
          <p:nvPr/>
        </p:nvSpPr>
        <p:spPr>
          <a:xfrm>
            <a:off x="6592824" y="2340864"/>
            <a:ext cx="2240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8F0"/>
                </a:solidFill>
              </a:rPr>
              <a:t>Multi-factor auth layer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91656" y="2761488"/>
            <a:ext cx="109728" cy="109728"/>
          </a:xfrm>
          <a:prstGeom prst="rect">
            <a:avLst/>
          </a:prstGeom>
          <a:solidFill>
            <a:srgbClr val="12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3" name="TextBox 42"/>
          <p:cNvSpPr txBox="1"/>
          <p:nvPr/>
        </p:nvSpPr>
        <p:spPr>
          <a:xfrm>
            <a:off x="6592824" y="2688336"/>
            <a:ext cx="2240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8F0"/>
                </a:solidFill>
              </a:rPr>
              <a:t>Real-time risk scoring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91656" y="3108960"/>
            <a:ext cx="109728" cy="109728"/>
          </a:xfrm>
          <a:prstGeom prst="rect">
            <a:avLst/>
          </a:prstGeom>
          <a:solidFill>
            <a:srgbClr val="12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5" name="TextBox 44"/>
          <p:cNvSpPr txBox="1"/>
          <p:nvPr/>
        </p:nvSpPr>
        <p:spPr>
          <a:xfrm>
            <a:off x="6592824" y="3035808"/>
            <a:ext cx="2240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8F0"/>
                </a:solidFill>
              </a:rPr>
              <a:t>Idempotency controls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91656" y="3456432"/>
            <a:ext cx="109728" cy="109728"/>
          </a:xfrm>
          <a:prstGeom prst="rect">
            <a:avLst/>
          </a:prstGeom>
          <a:solidFill>
            <a:srgbClr val="12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7" name="TextBox 46"/>
          <p:cNvSpPr txBox="1"/>
          <p:nvPr/>
        </p:nvSpPr>
        <p:spPr>
          <a:xfrm>
            <a:off x="6592824" y="3383279"/>
            <a:ext cx="2240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8F0"/>
                </a:solidFill>
              </a:rPr>
              <a:t>Append-only audit log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4663440"/>
            <a:ext cx="8321040" cy="32004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77200" y="4666296"/>
            <a:ext cx="8138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C000"/>
                </a:solidFill>
              </a:rPr>
              <a:t>🔗  </a:t>
            </a:r>
            <a:r>
              <a:rPr sz="1400" b="0" i="0">
                <a:solidFill>
                  <a:schemeClr val="bg1"/>
                </a:solidFill>
              </a:rPr>
              <a:t>Live prototype: </a:t>
            </a:r>
            <a:r>
              <a:rPr sz="1400" b="0" i="0">
                <a:solidFill>
                  <a:srgbClr val="FFC000"/>
                </a:solidFill>
                <a:hlinkClick r:id="rId2"/>
              </a:rPr>
              <a:t>talkpay.lovable.app </a:t>
            </a:r>
            <a:r>
              <a:rPr sz="1400" b="0" i="0">
                <a:solidFill>
                  <a:srgbClr val="FFC000"/>
                </a:solidFill>
              </a:rPr>
              <a:t>  · </a:t>
            </a:r>
            <a:r>
              <a:rPr lang="en-IN" sz="1400">
                <a:solidFill>
                  <a:srgbClr val="FFC000"/>
                </a:solidFill>
              </a:rPr>
              <a:t>🔗 </a:t>
            </a:r>
            <a:r>
              <a:rPr lang="en-IN" sz="1400">
                <a:solidFill>
                  <a:srgbClr val="FFC000"/>
                </a:solidFill>
                <a:hlinkClick r:id="rId3"/>
              </a:rPr>
              <a:t>Github: TalkPay</a:t>
            </a:r>
            <a:endParaRPr sz="1400" b="0" i="0" dirty="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4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8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2C49A"/>
                </a:solidFill>
              </a:rPr>
              <a:t>TALKPAY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6400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C93BB"/>
                </a:solidFill>
              </a:rPr>
              <a:t>04 — 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40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C93BB"/>
                </a:solidFill>
              </a:rPr>
              <a:t>5/12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647"/>
            <a:ext cx="5486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12C49A"/>
                </a:solidFill>
              </a:rPr>
              <a:t>THE FLOW</a:t>
            </a:r>
            <a:endParaRPr sz="800" b="1" i="0" dirty="0">
              <a:solidFill>
                <a:srgbClr val="12C49A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1480" y="438912"/>
            <a:ext cx="8321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Four steps. </a:t>
            </a:r>
            <a:r>
              <a:rPr sz="2400" b="1">
                <a:solidFill>
                  <a:srgbClr val="12C49A"/>
                </a:solidFill>
              </a:rPr>
              <a:t>Effortless.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170432"/>
            <a:ext cx="1965960" cy="2286000"/>
          </a:xfrm>
          <a:prstGeom prst="rect">
            <a:avLst/>
          </a:prstGeom>
          <a:solidFill>
            <a:srgbClr val="0C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" y="1170432"/>
            <a:ext cx="1965960" cy="411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61288" y="1298448"/>
            <a:ext cx="475488" cy="475488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61288" y="1316736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901952"/>
            <a:ext cx="17190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70F7"/>
                </a:solidFill>
              </a:rPr>
              <a:t>01  SPEAK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231136"/>
            <a:ext cx="171907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C93BB"/>
                </a:solidFill>
              </a:rPr>
              <a:t>User says payment command in natural language via voice or 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011680"/>
            <a:ext cx="411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rgbClr val="2D70F7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42032" y="1170432"/>
            <a:ext cx="1965960" cy="2286000"/>
          </a:xfrm>
          <a:prstGeom prst="rect">
            <a:avLst/>
          </a:prstGeom>
          <a:solidFill>
            <a:srgbClr val="0C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542032" y="1170432"/>
            <a:ext cx="1965960" cy="411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291839" y="1298448"/>
            <a:ext cx="475488" cy="475488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91839" y="1316736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79191" y="1901952"/>
            <a:ext cx="17190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70F7"/>
                </a:solidFill>
              </a:rPr>
              <a:t>02  AI EXTRACTS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79191" y="2231136"/>
            <a:ext cx="171907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C93BB"/>
                </a:solidFill>
              </a:rPr>
              <a:t>LLM parses intent, amount, recipient — builds structured payment object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0831" y="2011680"/>
            <a:ext cx="411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>
                <a:solidFill>
                  <a:srgbClr val="2D70F7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1170432"/>
            <a:ext cx="1965960" cy="2286000"/>
          </a:xfrm>
          <a:prstGeom prst="rect">
            <a:avLst/>
          </a:prstGeom>
          <a:solidFill>
            <a:srgbClr val="0C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663440" y="1170432"/>
            <a:ext cx="1965960" cy="41148"/>
          </a:xfrm>
          <a:prstGeom prst="rect">
            <a:avLst/>
          </a:prstGeom>
          <a:solidFill>
            <a:srgbClr val="0AA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413248" y="1298448"/>
            <a:ext cx="475488" cy="475488"/>
          </a:xfrm>
          <a:prstGeom prst="ellipse">
            <a:avLst/>
          </a:prstGeom>
          <a:solidFill>
            <a:srgbClr val="0AA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13248" y="1316736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1901952"/>
            <a:ext cx="17190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2C49A"/>
                </a:solidFill>
              </a:rPr>
              <a:t>03  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2231136"/>
            <a:ext cx="171907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C93BB"/>
                </a:solidFill>
              </a:rPr>
              <a:t>PIN + OTP + beneficiary lookup + real-time risk score passed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2011680"/>
            <a:ext cx="411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>
                <a:solidFill>
                  <a:srgbClr val="2D70F7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84848" y="1170432"/>
            <a:ext cx="1965960" cy="2286000"/>
          </a:xfrm>
          <a:prstGeom prst="rect">
            <a:avLst/>
          </a:prstGeom>
          <a:solidFill>
            <a:srgbClr val="0C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784848" y="1170432"/>
            <a:ext cx="1965960" cy="41148"/>
          </a:xfrm>
          <a:prstGeom prst="rect">
            <a:avLst/>
          </a:prstGeom>
          <a:solidFill>
            <a:srgbClr val="0AA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7534656" y="1298448"/>
            <a:ext cx="475488" cy="475488"/>
          </a:xfrm>
          <a:prstGeom prst="ellipse">
            <a:avLst/>
          </a:prstGeom>
          <a:solidFill>
            <a:srgbClr val="0AA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534656" y="1316736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22008" y="1901952"/>
            <a:ext cx="17190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2C49A"/>
                </a:solidFill>
              </a:rPr>
              <a:t>04  PAID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22008" y="2231136"/>
            <a:ext cx="171907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C93BB"/>
                </a:solidFill>
              </a:rPr>
              <a:t>Direct P2P transfer executed, voice confirmation returned in &lt;2s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3611880"/>
            <a:ext cx="8321040" cy="54864"/>
          </a:xfrm>
          <a:prstGeom prst="rect">
            <a:avLst/>
          </a:prstGeom>
          <a:solidFill>
            <a:srgbClr val="1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7" name="Rectangle 36"/>
          <p:cNvSpPr/>
          <p:nvPr/>
        </p:nvSpPr>
        <p:spPr>
          <a:xfrm>
            <a:off x="411480" y="3611880"/>
            <a:ext cx="8321040" cy="1280160"/>
          </a:xfrm>
          <a:prstGeom prst="rect">
            <a:avLst/>
          </a:prstGeom>
          <a:solidFill>
            <a:srgbClr val="0C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8" name="Rectangle 37"/>
          <p:cNvSpPr/>
          <p:nvPr/>
        </p:nvSpPr>
        <p:spPr>
          <a:xfrm>
            <a:off x="411480" y="3611880"/>
            <a:ext cx="50292" cy="12801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9" name="TextBox 38"/>
          <p:cNvSpPr txBox="1"/>
          <p:nvPr/>
        </p:nvSpPr>
        <p:spPr>
          <a:xfrm>
            <a:off x="411480" y="3666744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5A623"/>
                </a:solidFill>
              </a:rPr>
              <a:t>BACKEND FLOW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3977639"/>
            <a:ext cx="13533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D8F0"/>
                </a:solidFill>
              </a:rPr>
              <a:t>Voice Capture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4206240"/>
            <a:ext cx="13533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C93BB"/>
                </a:solidFill>
              </a:rPr>
              <a:t>Microphone / Web Speech API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01368" y="3977639"/>
            <a:ext cx="13533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D8F0"/>
                </a:solidFill>
              </a:rPr>
              <a:t>Speech-to-Text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01368" y="4206240"/>
            <a:ext cx="13533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C93BB"/>
                </a:solidFill>
              </a:rPr>
              <a:t>Browser STT or Whisper API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91256" y="3977639"/>
            <a:ext cx="13533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D8F0"/>
                </a:solidFill>
              </a:rPr>
              <a:t>Intent Recognition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91256" y="4206240"/>
            <a:ext cx="135331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C93BB"/>
                </a:solidFill>
              </a:rPr>
              <a:t>LLM slot extraction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81144" y="3977639"/>
            <a:ext cx="13533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D8F0"/>
                </a:solidFill>
              </a:rPr>
              <a:t>Orchestration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81144" y="4206240"/>
            <a:ext cx="135331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C93BB"/>
                </a:solidFill>
              </a:rPr>
              <a:t>Payment state machine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71031" y="3977639"/>
            <a:ext cx="13533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D8F0"/>
                </a:solidFill>
              </a:rPr>
              <a:t>Bank API Call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71031" y="4206240"/>
            <a:ext cx="135331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C93BB"/>
                </a:solidFill>
              </a:rPr>
              <a:t>Payment rails / gateway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60919" y="3977639"/>
            <a:ext cx="13533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D8F0"/>
                </a:solidFill>
              </a:rPr>
              <a:t>Confirmation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60919" y="4206240"/>
            <a:ext cx="135331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7C93BB"/>
                </a:solidFill>
              </a:rPr>
              <a:t>Voice response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B8EB81A-B40D-1E79-6199-9E5E70B96A87}"/>
              </a:ext>
            </a:extLst>
          </p:cNvPr>
          <p:cNvSpPr txBox="1"/>
          <p:nvPr/>
        </p:nvSpPr>
        <p:spPr>
          <a:xfrm>
            <a:off x="1412462" y="4039194"/>
            <a:ext cx="411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rgbClr val="2D70F7"/>
                </a:solidFill>
              </a:rPr>
              <a:t>→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76CE37E-A5FA-DCCB-A739-22E7E051BD70}"/>
              </a:ext>
            </a:extLst>
          </p:cNvPr>
          <p:cNvSpPr txBox="1"/>
          <p:nvPr/>
        </p:nvSpPr>
        <p:spPr>
          <a:xfrm>
            <a:off x="2944082" y="4062403"/>
            <a:ext cx="411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rgbClr val="2D70F7"/>
                </a:solidFill>
              </a:rPr>
              <a:t>→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171006C-5EB1-278B-7E2F-0A81D0D96F51}"/>
              </a:ext>
            </a:extLst>
          </p:cNvPr>
          <p:cNvSpPr txBox="1"/>
          <p:nvPr/>
        </p:nvSpPr>
        <p:spPr>
          <a:xfrm>
            <a:off x="4269962" y="4094726"/>
            <a:ext cx="411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rgbClr val="2D70F7"/>
                </a:solidFill>
              </a:rPr>
              <a:t>→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20410E8-0D32-F510-F7D8-74992111B008}"/>
              </a:ext>
            </a:extLst>
          </p:cNvPr>
          <p:cNvSpPr txBox="1"/>
          <p:nvPr/>
        </p:nvSpPr>
        <p:spPr>
          <a:xfrm>
            <a:off x="5716713" y="4094726"/>
            <a:ext cx="411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rgbClr val="2D70F7"/>
                </a:solidFill>
              </a:rPr>
              <a:t>→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A1B6545-5A48-3D3E-1D4C-7F2506D8526B}"/>
              </a:ext>
            </a:extLst>
          </p:cNvPr>
          <p:cNvSpPr txBox="1"/>
          <p:nvPr/>
        </p:nvSpPr>
        <p:spPr>
          <a:xfrm>
            <a:off x="7113745" y="4115300"/>
            <a:ext cx="411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rgbClr val="2D70F7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4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8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2C49A"/>
                </a:solidFill>
              </a:rPr>
              <a:t>TALKPAY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6400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C93BB"/>
                </a:solidFill>
              </a:rPr>
              <a:t>05 — Market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40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C93BB"/>
                </a:solidFill>
              </a:rPr>
              <a:t>6/12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7185"/>
            <a:ext cx="5486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2C49A"/>
                </a:solidFill>
              </a:rPr>
              <a:t>THE 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38912"/>
            <a:ext cx="308975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FFFF00"/>
                </a:solidFill>
              </a:rPr>
              <a:t>$125B+ </a:t>
            </a:r>
            <a:r>
              <a:rPr lang="en-IN" sz="2400" b="1" dirty="0">
                <a:solidFill>
                  <a:srgbClr val="FFFFFF"/>
                </a:solidFill>
              </a:rPr>
              <a:t>O</a:t>
            </a:r>
            <a:r>
              <a:rPr sz="2400" b="1" dirty="0" err="1">
                <a:solidFill>
                  <a:srgbClr val="FFFFFF"/>
                </a:solidFill>
              </a:rPr>
              <a:t>pportunity</a:t>
            </a:r>
            <a:r>
              <a:rPr sz="2400" b="1" dirty="0">
                <a:solidFill>
                  <a:srgbClr val="FFFFFF"/>
                </a:solidFill>
              </a:rPr>
              <a:t>. 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143000"/>
            <a:ext cx="2606040" cy="2025968"/>
          </a:xfrm>
          <a:prstGeom prst="rect">
            <a:avLst/>
          </a:prstGeom>
          <a:solidFill>
            <a:srgbClr val="08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" y="1143000"/>
            <a:ext cx="2606040" cy="2011680"/>
          </a:xfrm>
          <a:prstGeom prst="rect">
            <a:avLst/>
          </a:prstGeom>
          <a:noFill/>
          <a:ln w="180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1396541"/>
            <a:ext cx="26060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FFFFFF"/>
                </a:solidFill>
              </a:rPr>
              <a:t>$125.75B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331720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D70F7"/>
                </a:solidFill>
              </a:rPr>
              <a:t>TAM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583178"/>
            <a:ext cx="26060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 dirty="0">
                <a:solidFill>
                  <a:schemeClr val="bg1">
                    <a:lumMod val="85000"/>
                  </a:schemeClr>
                </a:solidFill>
              </a:rPr>
              <a:t>Global Voice-Based
Payments by 2035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82112" y="1444752"/>
            <a:ext cx="2606040" cy="1691640"/>
          </a:xfrm>
          <a:prstGeom prst="rect">
            <a:avLst/>
          </a:prstGeom>
          <a:solidFill>
            <a:srgbClr val="08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182112" y="1444752"/>
            <a:ext cx="2606040" cy="1691640"/>
          </a:xfrm>
          <a:prstGeom prst="rect">
            <a:avLst/>
          </a:prstGeom>
          <a:noFill/>
          <a:ln w="180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82112" y="1645920"/>
            <a:ext cx="2606040" cy="710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$450B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82112" y="2324404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D70F7"/>
                </a:solidFill>
              </a:rPr>
              <a:t>SAM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82112" y="2595067"/>
            <a:ext cx="26060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chemeClr val="bg1">
                    <a:lumMod val="85000"/>
                  </a:schemeClr>
                </a:solidFill>
              </a:rPr>
              <a:t>MENA + South Asia
Fintech Addressable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2208852"/>
            <a:ext cx="2606040" cy="960120"/>
          </a:xfrm>
          <a:prstGeom prst="rect">
            <a:avLst/>
          </a:prstGeom>
          <a:solidFill>
            <a:srgbClr val="042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43600" y="2208848"/>
            <a:ext cx="2606040" cy="960120"/>
          </a:xfrm>
          <a:prstGeom prst="rect">
            <a:avLst/>
          </a:prstGeom>
          <a:noFill/>
          <a:ln w="18000">
            <a:solidFill>
              <a:srgbClr val="0AA1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0" y="2202850"/>
            <a:ext cx="2606040" cy="403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2C49A"/>
                </a:solidFill>
              </a:rPr>
              <a:t>$2.5B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500944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D70F7"/>
                </a:solidFill>
              </a:rPr>
              <a:t>SOM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2704569"/>
            <a:ext cx="26060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chemeClr val="bg1">
                    <a:lumMod val="85000"/>
                  </a:schemeClr>
                </a:solidFill>
              </a:rPr>
              <a:t>UAE P2P Voice
Payments — Year 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3364992"/>
            <a:ext cx="2011680" cy="1481328"/>
          </a:xfrm>
          <a:prstGeom prst="rect">
            <a:avLst/>
          </a:prstGeom>
          <a:solidFill>
            <a:srgbClr val="0C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76072" y="3493008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2C49A"/>
                </a:solidFill>
              </a:rPr>
              <a:t>25.9%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" y="3931920"/>
            <a:ext cx="173736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chemeClr val="bg1">
                    <a:lumMod val="85000"/>
                  </a:schemeClr>
                </a:solidFill>
              </a:rPr>
              <a:t>Voice payments CAGR
2025–2035 (MRFR)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87752" y="3364992"/>
            <a:ext cx="2011680" cy="1481328"/>
          </a:xfrm>
          <a:prstGeom prst="rect">
            <a:avLst/>
          </a:prstGeom>
          <a:solidFill>
            <a:srgbClr val="0C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752344" y="3493008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2C49A"/>
                </a:solidFill>
              </a:rPr>
              <a:t>$14.8B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52344" y="3931920"/>
            <a:ext cx="173736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chemeClr val="bg1">
                    <a:lumMod val="85000"/>
                  </a:schemeClr>
                </a:solidFill>
              </a:rPr>
              <a:t>Conversational AI
market 2025 (Fortune BI)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64024" y="3364992"/>
            <a:ext cx="2011680" cy="1481328"/>
          </a:xfrm>
          <a:prstGeom prst="rect">
            <a:avLst/>
          </a:prstGeom>
          <a:solidFill>
            <a:srgbClr val="0C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928616" y="3493008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2C49A"/>
                </a:solidFill>
              </a:rPr>
              <a:t>96%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28616" y="3931920"/>
            <a:ext cx="173736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chemeClr val="bg1">
                    <a:lumMod val="85000"/>
                  </a:schemeClr>
                </a:solidFill>
              </a:rPr>
              <a:t>UAE smartphone
penetration — 2025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40296" y="3364992"/>
            <a:ext cx="2011680" cy="1481328"/>
          </a:xfrm>
          <a:prstGeom prst="rect">
            <a:avLst/>
          </a:prstGeom>
          <a:solidFill>
            <a:srgbClr val="0C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104888" y="3493008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2C49A"/>
                </a:solidFill>
              </a:rPr>
              <a:t>$860B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04888" y="3931920"/>
            <a:ext cx="173736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chemeClr val="bg1">
                    <a:lumMod val="85000"/>
                  </a:schemeClr>
                </a:solidFill>
              </a:rPr>
              <a:t>Global remittances
— key pain market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4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8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2C49A"/>
                </a:solidFill>
              </a:rPr>
              <a:t>TALKPAY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6400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C93BB"/>
                </a:solidFill>
              </a:rPr>
              <a:t>06 — Business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40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C93BB"/>
                </a:solidFill>
              </a:rPr>
              <a:t>7/12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3759"/>
            <a:ext cx="5486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12C49A"/>
                </a:solidFill>
              </a:rPr>
              <a:t>REVENUE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38912"/>
            <a:ext cx="8321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FFFFFF"/>
                </a:solidFill>
              </a:rPr>
              <a:t>Simple. Scalable. </a:t>
            </a:r>
            <a:r>
              <a:rPr sz="2400" b="1" dirty="0">
                <a:solidFill>
                  <a:srgbClr val="2D70F7"/>
                </a:solidFill>
              </a:rPr>
              <a:t>Multi-stream.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170432"/>
            <a:ext cx="2606040" cy="1417320"/>
          </a:xfrm>
          <a:prstGeom prst="rect">
            <a:avLst/>
          </a:prstGeom>
          <a:solidFill>
            <a:srgbClr val="0C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" y="2551176"/>
            <a:ext cx="2606040" cy="411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261872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💳 Transaction Fees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C93BB"/>
                </a:solidFill>
              </a:rPr>
              <a:t>0.15 AED per voice-initiated payment.
100 tx/user/yr × growing user base = core revenue engine.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170432"/>
            <a:ext cx="2606040" cy="1417320"/>
          </a:xfrm>
          <a:prstGeom prst="rect">
            <a:avLst/>
          </a:prstGeom>
          <a:solidFill>
            <a:srgbClr val="0C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46120" y="2551176"/>
            <a:ext cx="2606040" cy="41148"/>
          </a:xfrm>
          <a:prstGeom prst="rect">
            <a:avLst/>
          </a:prstGeom>
          <a:solidFill>
            <a:srgbClr val="0AA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83279" y="1261872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🏢 B2B SaaS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79" y="1581912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C93BB"/>
                </a:solidFill>
              </a:rPr>
              <a:t>White-label TalkPay voice layer for banks and fintech platforms.
Monthly subscription per seat or API call volume.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1170432"/>
            <a:ext cx="2606040" cy="1417320"/>
          </a:xfrm>
          <a:prstGeom prst="rect">
            <a:avLst/>
          </a:prstGeom>
          <a:solidFill>
            <a:srgbClr val="0C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80760" y="2551176"/>
            <a:ext cx="2606040" cy="411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0" y="1261872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🔌 API 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581912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C93BB"/>
                </a:solidFill>
              </a:rPr>
              <a:t>Developer and enterprise API usage for embedding voice payments.
Tiered usage-based pricing.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2761488"/>
            <a:ext cx="2606040" cy="1417320"/>
          </a:xfrm>
          <a:prstGeom prst="rect">
            <a:avLst/>
          </a:prstGeom>
          <a:solidFill>
            <a:srgbClr val="0C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11480" y="4142232"/>
            <a:ext cx="2606040" cy="41148"/>
          </a:xfrm>
          <a:prstGeom prst="rect">
            <a:avLst/>
          </a:prstGeom>
          <a:solidFill>
            <a:srgbClr val="0AA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2852928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🤝 Enterprise Licensing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172968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C93BB"/>
                </a:solidFill>
              </a:rPr>
              <a:t>Custom deployments for telecoms, remittance providers, and
MENA financial ecosystems. Contract-based revenue.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46120" y="2761488"/>
            <a:ext cx="2606040" cy="1417320"/>
          </a:xfrm>
          <a:prstGeom prst="rect">
            <a:avLst/>
          </a:prstGeom>
          <a:solidFill>
            <a:srgbClr val="0C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246120" y="4142232"/>
            <a:ext cx="2606040" cy="411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83279" y="2852928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🧠 AI Financial Services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79" y="3172968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C93BB"/>
                </a:solidFill>
              </a:rPr>
              <a:t>Premium robo-advisory, budgeting insights, and predictive
payment features. Subscription upsell layer.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2761488"/>
            <a:ext cx="2606040" cy="1417320"/>
          </a:xfrm>
          <a:prstGeom prst="rect">
            <a:avLst/>
          </a:prstGeom>
          <a:solidFill>
            <a:srgbClr val="0C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080760" y="4142232"/>
            <a:ext cx="2606040" cy="411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17920" y="2852928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🌍 Data &amp; Compliance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3172968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C93BB"/>
                </a:solidFill>
              </a:rPr>
              <a:t>Anonymised transaction intelligence for institutions.
GDPR/PDPA compliant. Year 3+ revenue stream.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8624" y="4301680"/>
            <a:ext cx="8321040" cy="722376"/>
          </a:xfrm>
          <a:prstGeom prst="rect">
            <a:avLst/>
          </a:prstGeom>
          <a:solidFill>
            <a:srgbClr val="1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4292248"/>
            <a:ext cx="25603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00"/>
                </a:solidFill>
              </a:rPr>
              <a:t>Year 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525992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2C49A"/>
                </a:solidFill>
              </a:rPr>
              <a:t>AED 600,000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749448"/>
            <a:ext cx="25603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00"/>
                </a:solidFill>
              </a:rPr>
              <a:t>40K users · 100 tx · 0.15 AED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80" y="4292248"/>
            <a:ext cx="25603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00"/>
                </a:solidFill>
              </a:rPr>
              <a:t>Year 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83280" y="4525992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2C49A"/>
                </a:solidFill>
              </a:rPr>
              <a:t>AED 2,250,000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4749448"/>
            <a:ext cx="25603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00"/>
                </a:solidFill>
              </a:rPr>
              <a:t>150K users + SaaS uplift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4292248"/>
            <a:ext cx="25603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00"/>
                </a:solidFill>
              </a:rPr>
              <a:t>Year 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4525992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2C49A"/>
                </a:solidFill>
              </a:rPr>
              <a:t>AED 6,000,000+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4749448"/>
            <a:ext cx="25603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00"/>
                </a:solidFill>
              </a:rPr>
              <a:t>400K users + enterprise contracts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4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8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2C49A"/>
                </a:solidFill>
              </a:rPr>
              <a:t>TALKPAY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6400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C93BB"/>
                </a:solidFill>
              </a:rPr>
              <a:t>07 — Financial Projections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40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C93BB"/>
                </a:solidFill>
              </a:rPr>
              <a:t>8/12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8624" y="344043"/>
            <a:ext cx="5486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12C49A"/>
                </a:solidFill>
              </a:rPr>
              <a:t>FINANCIALS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38912"/>
            <a:ext cx="8321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Revenue </a:t>
            </a:r>
            <a:r>
              <a:rPr sz="2400" b="1">
                <a:solidFill>
                  <a:srgbClr val="12C49A"/>
                </a:solidFill>
              </a:rPr>
              <a:t>model &amp; projections.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8917914"/>
              </p:ext>
            </p:extLst>
          </p:nvPr>
        </p:nvGraphicFramePr>
        <p:xfrm>
          <a:off x="411480" y="1170432"/>
          <a:ext cx="4686300" cy="26243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5212080" y="1170432"/>
            <a:ext cx="3474720" cy="841248"/>
          </a:xfrm>
          <a:prstGeom prst="rect">
            <a:avLst/>
          </a:prstGeom>
          <a:solidFill>
            <a:srgbClr val="0C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212080" y="1170432"/>
            <a:ext cx="50292" cy="841248"/>
          </a:xfrm>
          <a:prstGeom prst="rect">
            <a:avLst/>
          </a:prstGeom>
          <a:solidFill>
            <a:srgbClr val="12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76672" y="1261872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40K → 400K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6672" y="1673352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C93BB"/>
                </a:solidFill>
              </a:rPr>
              <a:t>Users Y1–Y3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80" y="2103120"/>
            <a:ext cx="3474720" cy="841248"/>
          </a:xfrm>
          <a:prstGeom prst="rect">
            <a:avLst/>
          </a:prstGeom>
          <a:solidFill>
            <a:srgbClr val="0C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212080" y="2103120"/>
            <a:ext cx="50292" cy="841248"/>
          </a:xfrm>
          <a:prstGeom prst="rect">
            <a:avLst/>
          </a:prstGeom>
          <a:solidFill>
            <a:srgbClr val="12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76672" y="2194560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76672" y="2606039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C93BB"/>
                </a:solidFill>
              </a:rPr>
              <a:t>Transactions / user / year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80" y="3035808"/>
            <a:ext cx="3474720" cy="841248"/>
          </a:xfrm>
          <a:prstGeom prst="rect">
            <a:avLst/>
          </a:prstGeom>
          <a:solidFill>
            <a:srgbClr val="0C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212080" y="3035808"/>
            <a:ext cx="50292" cy="841248"/>
          </a:xfrm>
          <a:prstGeom prst="rect">
            <a:avLst/>
          </a:prstGeom>
          <a:solidFill>
            <a:srgbClr val="12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76672" y="3127248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0.15 AED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76672" y="3538728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C93BB"/>
                </a:solidFill>
              </a:rPr>
              <a:t>Fee per transaction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12080" y="3968496"/>
            <a:ext cx="3474720" cy="841248"/>
          </a:xfrm>
          <a:prstGeom prst="rect">
            <a:avLst/>
          </a:prstGeom>
          <a:solidFill>
            <a:srgbClr val="0C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212080" y="3968496"/>
            <a:ext cx="50292" cy="841248"/>
          </a:xfrm>
          <a:prstGeom prst="rect">
            <a:avLst/>
          </a:prstGeom>
          <a:solidFill>
            <a:srgbClr val="12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76672" y="4059935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65%+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6672" y="4471416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C93BB"/>
                </a:solidFill>
              </a:rPr>
              <a:t>Projected gross margin
(SaaS layer)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293394"/>
            <a:ext cx="4059936" cy="671798"/>
          </a:xfrm>
          <a:prstGeom prst="rect">
            <a:avLst/>
          </a:prstGeom>
          <a:solidFill>
            <a:srgbClr val="1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7494" y="4389403"/>
            <a:ext cx="12601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chemeClr val="bg1">
                    <a:lumMod val="95000"/>
                  </a:schemeClr>
                </a:solidFill>
              </a:rPr>
              <a:t>Year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7494" y="4572283"/>
            <a:ext cx="12601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C49A"/>
                </a:solidFill>
              </a:rPr>
              <a:t>AED 600K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70" y="4407691"/>
            <a:ext cx="2560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chemeClr val="bg1">
                    <a:lumMod val="95000"/>
                  </a:schemeClr>
                </a:solidFill>
              </a:rPr>
              <a:t>Year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70" y="4590571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12C49A"/>
                </a:solidFill>
              </a:rPr>
              <a:t>AED 2.25M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90340" y="4407691"/>
            <a:ext cx="2560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chemeClr val="bg1">
                    <a:lumMod val="95000"/>
                  </a:schemeClr>
                </a:solidFill>
              </a:rPr>
              <a:t>Year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90340" y="4590571"/>
            <a:ext cx="2560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C49A"/>
                </a:solidFill>
              </a:rPr>
              <a:t>AED 6M+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4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8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2C49A"/>
                </a:solidFill>
              </a:rPr>
              <a:t>TALKPAY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6400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C93BB"/>
                </a:solidFill>
              </a:rPr>
              <a:t>08 — Competitive Advantage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40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C93BB"/>
                </a:solidFill>
              </a:rPr>
              <a:t>9/12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44048"/>
            <a:ext cx="5486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12C49A"/>
                </a:solidFill>
              </a:rPr>
              <a:t>WHY TALKPAY WINS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38912"/>
            <a:ext cx="8321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The missing </a:t>
            </a:r>
            <a:r>
              <a:rPr sz="2400" b="1">
                <a:solidFill>
                  <a:srgbClr val="12C49A"/>
                </a:solidFill>
              </a:rPr>
              <a:t>conversation layer.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170432"/>
            <a:ext cx="8321040" cy="3840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4632" y="1234440"/>
            <a:ext cx="22677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Capability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62072" y="1234440"/>
            <a:ext cx="1307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Traditional Apps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9392" y="1234440"/>
            <a:ext cx="1307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Siri / Alexa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96712" y="1234440"/>
            <a:ext cx="13990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PayPal / Revolut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5472" y="1234440"/>
            <a:ext cx="1490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TalkPay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1554480"/>
            <a:ext cx="8321040" cy="365760"/>
          </a:xfrm>
          <a:prstGeom prst="rect">
            <a:avLst/>
          </a:prstGeom>
          <a:solidFill>
            <a:srgbClr val="0C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4632" y="1645920"/>
            <a:ext cx="22677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C93BB"/>
                </a:solidFill>
              </a:rPr>
              <a:t>Conversational payment 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62072" y="1645920"/>
            <a:ext cx="1307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5A5A"/>
                </a:solidFill>
              </a:rPr>
              <a:t>❌ Form-based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2" y="1645920"/>
            <a:ext cx="1307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A623"/>
                </a:solidFill>
              </a:rPr>
              <a:t>⚠️  Limited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96712" y="1645920"/>
            <a:ext cx="13990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5A5A"/>
                </a:solidFill>
              </a:rPr>
              <a:t>❌ None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5472" y="1645920"/>
            <a:ext cx="1490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2C49A"/>
                </a:solidFill>
              </a:rPr>
              <a:t>✓ Full NLP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1920240"/>
            <a:ext cx="8321040" cy="365760"/>
          </a:xfrm>
          <a:prstGeom prst="rect">
            <a:avLst/>
          </a:prstGeom>
          <a:solidFill>
            <a:srgbClr val="1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4632" y="2011680"/>
            <a:ext cx="22677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C93BB"/>
                </a:solidFill>
              </a:rPr>
              <a:t>True P2P (no gateway)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62072" y="2011680"/>
            <a:ext cx="1307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5A5A"/>
                </a:solidFill>
              </a:rPr>
              <a:t>❌ Merchant needed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2011680"/>
            <a:ext cx="1307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5A5A"/>
                </a:solidFill>
              </a:rPr>
              <a:t>❌ 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96712" y="2011680"/>
            <a:ext cx="13990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5A5A"/>
                </a:solidFill>
              </a:rPr>
              <a:t>❌ 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05472" y="2011680"/>
            <a:ext cx="1490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2C49A"/>
                </a:solidFill>
              </a:rPr>
              <a:t>✓ Native rails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2286000"/>
            <a:ext cx="8321040" cy="365760"/>
          </a:xfrm>
          <a:prstGeom prst="rect">
            <a:avLst/>
          </a:prstGeom>
          <a:solidFill>
            <a:srgbClr val="0C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4632" y="2377440"/>
            <a:ext cx="22677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C93BB"/>
                </a:solidFill>
              </a:rPr>
              <a:t>Voice + text + IVR channels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62072" y="2377440"/>
            <a:ext cx="1307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5A5A"/>
                </a:solidFill>
              </a:rPr>
              <a:t>❌ App only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9392" y="2377440"/>
            <a:ext cx="1307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A623"/>
                </a:solidFill>
              </a:rPr>
              <a:t>⚠️  Voice only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96712" y="2377440"/>
            <a:ext cx="13990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5A5A"/>
                </a:solidFill>
              </a:rPr>
              <a:t>❌ App only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05472" y="2377440"/>
            <a:ext cx="1490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2C49A"/>
                </a:solidFill>
              </a:rPr>
              <a:t>✓ All channels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2651760"/>
            <a:ext cx="8321040" cy="365760"/>
          </a:xfrm>
          <a:prstGeom prst="rect">
            <a:avLst/>
          </a:prstGeom>
          <a:solidFill>
            <a:srgbClr val="1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4632" y="2743200"/>
            <a:ext cx="22677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C93BB"/>
                </a:solidFill>
              </a:rPr>
              <a:t>Agentic multi-step execution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62072" y="2743200"/>
            <a:ext cx="1307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5A5A"/>
                </a:solidFill>
              </a:rPr>
              <a:t>❌ No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79392" y="2743200"/>
            <a:ext cx="1307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5A5A"/>
                </a:solidFill>
              </a:rPr>
              <a:t>❌ No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96712" y="2743200"/>
            <a:ext cx="13990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5A5A"/>
                </a:solidFill>
              </a:rPr>
              <a:t>❌ No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05472" y="2743200"/>
            <a:ext cx="1490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2C49A"/>
                </a:solidFill>
              </a:rPr>
              <a:t>✓ Orchestrated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3017520"/>
            <a:ext cx="8321040" cy="365760"/>
          </a:xfrm>
          <a:prstGeom prst="rect">
            <a:avLst/>
          </a:prstGeom>
          <a:solidFill>
            <a:srgbClr val="0C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84632" y="3108960"/>
            <a:ext cx="22677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C93BB"/>
                </a:solidFill>
              </a:rPr>
              <a:t>Financial inclusion (IVR/SMS)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62072" y="3108960"/>
            <a:ext cx="1307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5A5A"/>
                </a:solidFill>
              </a:rPr>
              <a:t>❌ No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9392" y="3108960"/>
            <a:ext cx="1307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5A5A"/>
                </a:solidFill>
              </a:rPr>
              <a:t>❌ No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96712" y="3108960"/>
            <a:ext cx="13990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5A5A"/>
                </a:solidFill>
              </a:rPr>
              <a:t>❌ No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05472" y="3108960"/>
            <a:ext cx="1490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2C49A"/>
                </a:solidFill>
              </a:rPr>
              <a:t>✓ Roadmap Q3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3383279"/>
            <a:ext cx="8321040" cy="365760"/>
          </a:xfrm>
          <a:prstGeom prst="rect">
            <a:avLst/>
          </a:prstGeom>
          <a:solidFill>
            <a:srgbClr val="1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84632" y="3474720"/>
            <a:ext cx="22677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C93BB"/>
                </a:solidFill>
              </a:rPr>
              <a:t>Open developer API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62072" y="3474720"/>
            <a:ext cx="1307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A623"/>
                </a:solidFill>
              </a:rPr>
              <a:t>⚠️  Limited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79392" y="3474720"/>
            <a:ext cx="1307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5A5A"/>
                </a:solidFill>
              </a:rPr>
              <a:t>❌ No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96712" y="3474720"/>
            <a:ext cx="13990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2C49A"/>
                </a:solidFill>
              </a:rPr>
              <a:t>✓ Yes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05472" y="3474720"/>
            <a:ext cx="1490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2C49A"/>
                </a:solidFill>
              </a:rPr>
              <a:t>✓ Yes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3749039"/>
            <a:ext cx="8321040" cy="365760"/>
          </a:xfrm>
          <a:prstGeom prst="rect">
            <a:avLst/>
          </a:prstGeom>
          <a:solidFill>
            <a:srgbClr val="0C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84632" y="3840479"/>
            <a:ext cx="22677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C93BB"/>
                </a:solidFill>
              </a:rPr>
              <a:t>UAE / MENA regulatory focus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62072" y="3840479"/>
            <a:ext cx="1307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5A5A"/>
                </a:solidFill>
              </a:rPr>
              <a:t>❌ Generic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79392" y="3840479"/>
            <a:ext cx="1307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5A5A"/>
                </a:solidFill>
              </a:rPr>
              <a:t>❌ Generic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96712" y="3840479"/>
            <a:ext cx="13990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A623"/>
                </a:solidFill>
              </a:rPr>
              <a:t>⚠️  Partial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05472" y="3840479"/>
            <a:ext cx="1490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2C49A"/>
                </a:solidFill>
              </a:rPr>
              <a:t>✓ CBUAE aligned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" y="4315968"/>
            <a:ext cx="8321040" cy="594360"/>
          </a:xfrm>
          <a:prstGeom prst="rect">
            <a:avLst/>
          </a:prstGeom>
          <a:solidFill>
            <a:srgbClr val="0C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411480" y="4315968"/>
            <a:ext cx="50292" cy="594360"/>
          </a:xfrm>
          <a:prstGeom prst="rect">
            <a:avLst/>
          </a:prstGeom>
          <a:solidFill>
            <a:srgbClr val="0AA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94360" y="4389120"/>
            <a:ext cx="80924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C8D8F0"/>
                </a:solidFill>
              </a:rPr>
              <a:t>Core USP: </a:t>
            </a:r>
            <a:r>
              <a:rPr sz="1100" b="0" i="0" dirty="0" err="1">
                <a:solidFill>
                  <a:srgbClr val="C8D8F0"/>
                </a:solidFill>
              </a:rPr>
              <a:t>TalkPay</a:t>
            </a:r>
            <a:r>
              <a:rPr sz="1100" b="0" i="0" dirty="0">
                <a:solidFill>
                  <a:srgbClr val="C8D8F0"/>
                </a:solidFill>
              </a:rPr>
              <a:t> is not </a:t>
            </a:r>
            <a:r>
              <a:rPr lang="en-IN" sz="1100" dirty="0">
                <a:solidFill>
                  <a:srgbClr val="C8D8F0"/>
                </a:solidFill>
              </a:rPr>
              <a:t>just a </a:t>
            </a:r>
            <a:r>
              <a:rPr sz="1100" b="0" i="0" dirty="0">
                <a:solidFill>
                  <a:srgbClr val="C8D8F0"/>
                </a:solidFill>
              </a:rPr>
              <a:t>payment app. It is a voice infrastructure layer — the missing conversation interface between people and money. No competitor provides full NLP-driven, agentic, P2P payment execution with multi-channel accessibility at scale.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4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8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2C49A"/>
                </a:solidFill>
              </a:rPr>
              <a:t>TALKPAY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6400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C93BB"/>
                </a:solidFill>
              </a:rPr>
              <a:t>09 — Go-To-Market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40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C93BB"/>
                </a:solidFill>
              </a:rPr>
              <a:t>10/12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57920"/>
            <a:ext cx="5486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12C49A"/>
                </a:solidFill>
              </a:rPr>
              <a:t>GO-TO-MARKET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38912"/>
            <a:ext cx="8321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Phased launch. </a:t>
            </a:r>
            <a:r>
              <a:rPr sz="2400" b="1">
                <a:solidFill>
                  <a:srgbClr val="2D70F7"/>
                </a:solidFill>
              </a:rPr>
              <a:t>UAE first. World next.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207008"/>
            <a:ext cx="8321040" cy="813816"/>
          </a:xfrm>
          <a:prstGeom prst="rect">
            <a:avLst/>
          </a:prstGeom>
          <a:solidFill>
            <a:srgbClr val="0C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" y="1207008"/>
            <a:ext cx="50292" cy="81381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384175"/>
            <a:ext cx="1097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1A56DB"/>
                </a:solidFill>
              </a:rP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658495"/>
            <a:ext cx="10972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7C93BB"/>
                </a:solidFill>
              </a:rPr>
              <a:t>Q2–Q3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20" y="1298448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</a:rPr>
              <a:t>Direct </a:t>
            </a:r>
            <a:r>
              <a:rPr sz="1400" b="1" i="0" dirty="0">
                <a:solidFill>
                  <a:srgbClr val="FFFFFF"/>
                </a:solidFill>
              </a:rPr>
              <a:t>Consumer</a:t>
            </a:r>
            <a:r>
              <a:rPr sz="1600" b="1" i="0" dirty="0">
                <a:solidFill>
                  <a:srgbClr val="FFFFFF"/>
                </a:solidFill>
              </a:rPr>
              <a:t> (UAE)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20" y="1645920"/>
            <a:ext cx="6675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7C93BB"/>
                </a:solidFill>
              </a:rPr>
              <a:t>Launch </a:t>
            </a:r>
            <a:r>
              <a:rPr sz="1100" b="0" i="0" dirty="0" err="1">
                <a:solidFill>
                  <a:srgbClr val="7C93BB"/>
                </a:solidFill>
              </a:rPr>
              <a:t>talkpay.lovable.app</a:t>
            </a:r>
            <a:r>
              <a:rPr sz="1100" b="0" i="0" dirty="0">
                <a:solidFill>
                  <a:srgbClr val="7C93BB"/>
                </a:solidFill>
              </a:rPr>
              <a:t> publicly. Target UAE tech-savvy expats and students via digital channels. 10K users.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5336" y="163106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1A56DB"/>
                </a:solidFill>
              </a:rPr>
              <a:t>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271834"/>
            <a:ext cx="8321040" cy="838143"/>
          </a:xfrm>
          <a:prstGeom prst="rect">
            <a:avLst/>
          </a:prstGeom>
          <a:solidFill>
            <a:srgbClr val="0C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1480" y="2271834"/>
            <a:ext cx="50292" cy="838143"/>
          </a:xfrm>
          <a:prstGeom prst="rect">
            <a:avLst/>
          </a:prstGeom>
          <a:solidFill>
            <a:srgbClr val="0AA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7224" y="2424586"/>
            <a:ext cx="1097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AA178"/>
                </a:solidFill>
              </a:rPr>
              <a:t>Phase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224" y="2698906"/>
            <a:ext cx="1097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C93BB"/>
                </a:solidFill>
              </a:rPr>
              <a:t>Q4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20" y="2424586"/>
            <a:ext cx="228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</a:rPr>
              <a:t>Bank &amp; Fintech Partnerships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20" y="2772058"/>
            <a:ext cx="6675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7C93BB"/>
                </a:solidFill>
              </a:rPr>
              <a:t>White-label API integrations with 2–3 regional banks and neobanks. SaaS revenue begins. 50K users.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5336" y="2664336"/>
            <a:ext cx="365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0AA178"/>
                </a:solidFill>
              </a:rPr>
              <a:t>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383684"/>
            <a:ext cx="8321040" cy="838143"/>
          </a:xfrm>
          <a:prstGeom prst="rect">
            <a:avLst/>
          </a:prstGeom>
          <a:solidFill>
            <a:srgbClr val="0C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11480" y="3359460"/>
            <a:ext cx="50292" cy="86236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656" y="3529296"/>
            <a:ext cx="1097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Phase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656" y="3803617"/>
            <a:ext cx="1097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C93BB"/>
                </a:solidFill>
              </a:rPr>
              <a:t>2027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88808" y="3507863"/>
            <a:ext cx="228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</a:rPr>
              <a:t>Enterprise + MENA Scale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8808" y="3855336"/>
            <a:ext cx="66751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C93BB"/>
                </a:solidFill>
              </a:rPr>
              <a:t>Telecom integrations, remittance provider partnerships, IVR rollout for unbanked populations. 150K+ users.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5336" y="382790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5A623"/>
                </a:solidFill>
              </a:rPr>
              <a:t>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4617720"/>
            <a:ext cx="8321040" cy="384048"/>
          </a:xfrm>
          <a:prstGeom prst="rect">
            <a:avLst/>
          </a:prstGeom>
          <a:solidFill>
            <a:srgbClr val="1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4681728"/>
            <a:ext cx="8138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7C93BB"/>
                </a:solidFill>
              </a:rPr>
              <a:t>🔗 Direct Web App   ·   🏦 Bank API Partnerships   ·   📣 Digital Marketing   ·   🤝 UAE Fintech Events   ·   🌍 Expat Community Hubs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4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8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2C49A"/>
                </a:solidFill>
              </a:rPr>
              <a:t>TALKPAY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6400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C93BB"/>
                </a:solidFill>
              </a:rPr>
              <a:t>10 — 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40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C93BB"/>
                </a:solidFill>
              </a:rPr>
              <a:t>11/12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58333"/>
            <a:ext cx="5486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12C49A"/>
                </a:solidFill>
              </a:rPr>
              <a:t>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38912"/>
            <a:ext cx="8321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Five-layer </a:t>
            </a:r>
            <a:r>
              <a:rPr sz="2400" b="1">
                <a:solidFill>
                  <a:srgbClr val="12C49A"/>
                </a:solidFill>
              </a:rPr>
              <a:t>system design.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170432"/>
            <a:ext cx="4114800" cy="658368"/>
          </a:xfrm>
          <a:prstGeom prst="rect">
            <a:avLst/>
          </a:prstGeom>
          <a:solidFill>
            <a:srgbClr val="0C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Rectangle 9"/>
          <p:cNvSpPr/>
          <p:nvPr/>
        </p:nvSpPr>
        <p:spPr>
          <a:xfrm>
            <a:off x="411480" y="1170432"/>
            <a:ext cx="50292" cy="6583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594360" y="1234440"/>
            <a:ext cx="3794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DB"/>
                </a:solidFill>
              </a:rPr>
              <a:t>VOICE INPUT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499616"/>
            <a:ext cx="3794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C93BB"/>
                </a:solidFill>
              </a:rPr>
              <a:t>Web Speech API · Groq Whisper STT · IVR · Text input fallback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1847088"/>
            <a:ext cx="3657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D70F7"/>
                </a:solidFill>
              </a:rPr>
              <a:t>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1920240"/>
            <a:ext cx="4114800" cy="658368"/>
          </a:xfrm>
          <a:prstGeom prst="rect">
            <a:avLst/>
          </a:prstGeom>
          <a:solidFill>
            <a:srgbClr val="0C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Rectangle 14"/>
          <p:cNvSpPr/>
          <p:nvPr/>
        </p:nvSpPr>
        <p:spPr>
          <a:xfrm>
            <a:off x="411480" y="1920240"/>
            <a:ext cx="50292" cy="658368"/>
          </a:xfrm>
          <a:prstGeom prst="rect">
            <a:avLst/>
          </a:prstGeom>
          <a:solidFill>
            <a:srgbClr val="2D7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594360" y="1984248"/>
            <a:ext cx="3794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70F7"/>
                </a:solidFill>
              </a:rPr>
              <a:t>AI / NLP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249424"/>
            <a:ext cx="3794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C93BB"/>
                </a:solidFill>
              </a:rPr>
              <a:t>LLM Intent Extraction · Slot Parsing · Pydantic-AI Agent · Orchestrator State Machine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2596896"/>
            <a:ext cx="3657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D70F7"/>
                </a:solidFill>
              </a:rPr>
              <a:t>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670048"/>
            <a:ext cx="4114800" cy="658368"/>
          </a:xfrm>
          <a:prstGeom prst="rect">
            <a:avLst/>
          </a:prstGeom>
          <a:solidFill>
            <a:srgbClr val="0C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Rectangle 19"/>
          <p:cNvSpPr/>
          <p:nvPr/>
        </p:nvSpPr>
        <p:spPr>
          <a:xfrm>
            <a:off x="411480" y="2670048"/>
            <a:ext cx="50292" cy="658368"/>
          </a:xfrm>
          <a:prstGeom prst="rect">
            <a:avLst/>
          </a:prstGeom>
          <a:solidFill>
            <a:srgbClr val="0AA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1" name="TextBox 20"/>
          <p:cNvSpPr txBox="1"/>
          <p:nvPr/>
        </p:nvSpPr>
        <p:spPr>
          <a:xfrm>
            <a:off x="594360" y="2734056"/>
            <a:ext cx="3794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A178"/>
                </a:solidFill>
              </a:rPr>
              <a:t>PAYMENT ORCHESTRATION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2999232"/>
            <a:ext cx="3794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C93BB"/>
                </a:solidFill>
              </a:rPr>
              <a:t>Payment State Machine · Idempotency Guard · Confirmation Loop · Risk Scoring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3346704"/>
            <a:ext cx="3657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D70F7"/>
                </a:solidFill>
              </a:rPr>
              <a:t>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3419856"/>
            <a:ext cx="4114800" cy="658368"/>
          </a:xfrm>
          <a:prstGeom prst="rect">
            <a:avLst/>
          </a:prstGeom>
          <a:solidFill>
            <a:srgbClr val="0C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5" name="Rectangle 24"/>
          <p:cNvSpPr/>
          <p:nvPr/>
        </p:nvSpPr>
        <p:spPr>
          <a:xfrm>
            <a:off x="411480" y="3419856"/>
            <a:ext cx="50292" cy="658368"/>
          </a:xfrm>
          <a:prstGeom prst="rect">
            <a:avLst/>
          </a:prstGeom>
          <a:solidFill>
            <a:srgbClr val="12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6" name="TextBox 25"/>
          <p:cNvSpPr txBox="1"/>
          <p:nvPr/>
        </p:nvSpPr>
        <p:spPr>
          <a:xfrm>
            <a:off x="594360" y="3483864"/>
            <a:ext cx="3794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2C49A"/>
                </a:solidFill>
              </a:rPr>
              <a:t>BANKING / API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3749040"/>
            <a:ext cx="3794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7C93BB"/>
                </a:solidFill>
              </a:rPr>
              <a:t>Payment Rails · P2P Transfer Engine · Balance Engine · </a:t>
            </a:r>
            <a:r>
              <a:rPr sz="900" b="0" i="0" dirty="0" err="1">
                <a:solidFill>
                  <a:srgbClr val="7C93BB"/>
                </a:solidFill>
              </a:rPr>
              <a:t>Supabase</a:t>
            </a:r>
            <a:r>
              <a:rPr sz="900" b="0" i="0" dirty="0">
                <a:solidFill>
                  <a:srgbClr val="7C93BB"/>
                </a:solidFill>
              </a:rPr>
              <a:t>/PostgreSQL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4096512"/>
            <a:ext cx="3657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D70F7"/>
                </a:solidFill>
              </a:rPr>
              <a:t>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4169663"/>
            <a:ext cx="4114800" cy="658368"/>
          </a:xfrm>
          <a:prstGeom prst="rect">
            <a:avLst/>
          </a:prstGeom>
          <a:solidFill>
            <a:srgbClr val="0C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0" name="Rectangle 29"/>
          <p:cNvSpPr/>
          <p:nvPr/>
        </p:nvSpPr>
        <p:spPr>
          <a:xfrm>
            <a:off x="411480" y="4169663"/>
            <a:ext cx="50292" cy="65836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1" name="TextBox 30"/>
          <p:cNvSpPr txBox="1"/>
          <p:nvPr/>
        </p:nvSpPr>
        <p:spPr>
          <a:xfrm>
            <a:off x="594360" y="4233672"/>
            <a:ext cx="3794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A623"/>
                </a:solidFill>
              </a:rPr>
              <a:t>SECURITY LAYER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4498848"/>
            <a:ext cx="3794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C93BB"/>
                </a:solidFill>
              </a:rPr>
              <a:t>PIN bcrypt · OTP Challenge · Session JWT · Fraud Rules · Audit Log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64024" y="1193292"/>
            <a:ext cx="3931920" cy="3634739"/>
          </a:xfrm>
          <a:prstGeom prst="rect">
            <a:avLst/>
          </a:prstGeom>
          <a:solidFill>
            <a:srgbClr val="1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4" name="TextBox 33"/>
          <p:cNvSpPr txBox="1"/>
          <p:nvPr/>
        </p:nvSpPr>
        <p:spPr>
          <a:xfrm>
            <a:off x="4956048" y="1261872"/>
            <a:ext cx="354787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 dirty="0">
                <a:solidFill>
                  <a:srgbClr val="F5A623"/>
                </a:solidFill>
              </a:rPr>
              <a:t>END-TO-END FLOW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56048" y="1591056"/>
            <a:ext cx="237744" cy="237744"/>
          </a:xfrm>
          <a:prstGeom prst="rect">
            <a:avLst/>
          </a:prstGeom>
          <a:solidFill>
            <a:srgbClr val="0AA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6" name="TextBox 35"/>
          <p:cNvSpPr txBox="1"/>
          <p:nvPr/>
        </p:nvSpPr>
        <p:spPr>
          <a:xfrm>
            <a:off x="4956048" y="1600200"/>
            <a:ext cx="23774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85232" y="1554480"/>
            <a:ext cx="33375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8D8F0"/>
                </a:solidFill>
              </a:rPr>
              <a:t>User speaks or types payment command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56048" y="1883664"/>
            <a:ext cx="237744" cy="23774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9" name="TextBox 38"/>
          <p:cNvSpPr txBox="1"/>
          <p:nvPr/>
        </p:nvSpPr>
        <p:spPr>
          <a:xfrm>
            <a:off x="4956048" y="1892807"/>
            <a:ext cx="23774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85232" y="1847088"/>
            <a:ext cx="33375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8D8F0"/>
                </a:solidFill>
              </a:rPr>
              <a:t>Voice capture → STT converts audio to text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56048" y="2176272"/>
            <a:ext cx="237744" cy="237744"/>
          </a:xfrm>
          <a:prstGeom prst="rect">
            <a:avLst/>
          </a:prstGeom>
          <a:solidFill>
            <a:srgbClr val="0AA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2" name="TextBox 41"/>
          <p:cNvSpPr txBox="1"/>
          <p:nvPr/>
        </p:nvSpPr>
        <p:spPr>
          <a:xfrm>
            <a:off x="4956048" y="2185415"/>
            <a:ext cx="23774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85232" y="2139696"/>
            <a:ext cx="33375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8F0"/>
                </a:solidFill>
              </a:rPr>
              <a:t>LLM extracts intent + amount + recipient slots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56048" y="2468879"/>
            <a:ext cx="237744" cy="23774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5" name="TextBox 44"/>
          <p:cNvSpPr txBox="1"/>
          <p:nvPr/>
        </p:nvSpPr>
        <p:spPr>
          <a:xfrm>
            <a:off x="4956048" y="2478023"/>
            <a:ext cx="23774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85232" y="2432303"/>
            <a:ext cx="33375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8D8F0"/>
                </a:solidFill>
              </a:rPr>
              <a:t>Orchestrator builds </a:t>
            </a:r>
            <a:r>
              <a:rPr sz="900" b="0" i="0" dirty="0" err="1">
                <a:solidFill>
                  <a:srgbClr val="C8D8F0"/>
                </a:solidFill>
              </a:rPr>
              <a:t>TransferRequest</a:t>
            </a:r>
            <a:r>
              <a:rPr sz="900" b="0" i="0" dirty="0">
                <a:solidFill>
                  <a:srgbClr val="C8D8F0"/>
                </a:solidFill>
              </a:rPr>
              <a:t> object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56048" y="2761487"/>
            <a:ext cx="237744" cy="237744"/>
          </a:xfrm>
          <a:prstGeom prst="rect">
            <a:avLst/>
          </a:prstGeom>
          <a:solidFill>
            <a:srgbClr val="0AA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8" name="TextBox 47"/>
          <p:cNvSpPr txBox="1"/>
          <p:nvPr/>
        </p:nvSpPr>
        <p:spPr>
          <a:xfrm>
            <a:off x="4956048" y="2770631"/>
            <a:ext cx="23774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85232" y="2724911"/>
            <a:ext cx="33375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8F0"/>
                </a:solidFill>
              </a:rPr>
              <a:t>Beneficiary lookup against registered users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56048" y="3054095"/>
            <a:ext cx="237744" cy="23774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1" name="TextBox 50"/>
          <p:cNvSpPr txBox="1"/>
          <p:nvPr/>
        </p:nvSpPr>
        <p:spPr>
          <a:xfrm>
            <a:off x="4956048" y="3063239"/>
            <a:ext cx="23774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85232" y="3017519"/>
            <a:ext cx="33375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8F0"/>
                </a:solidFill>
              </a:rPr>
              <a:t>Confirmation dialogue presented to user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956048" y="3346703"/>
            <a:ext cx="237744" cy="237744"/>
          </a:xfrm>
          <a:prstGeom prst="rect">
            <a:avLst/>
          </a:prstGeom>
          <a:solidFill>
            <a:srgbClr val="0AA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4" name="TextBox 53"/>
          <p:cNvSpPr txBox="1"/>
          <p:nvPr/>
        </p:nvSpPr>
        <p:spPr>
          <a:xfrm>
            <a:off x="4956048" y="3355847"/>
            <a:ext cx="23774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85232" y="3310127"/>
            <a:ext cx="33375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8F0"/>
                </a:solidFill>
              </a:rPr>
              <a:t>PIN + OTP multi-factor auth validated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956048" y="3639311"/>
            <a:ext cx="237744" cy="23774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7" name="TextBox 56"/>
          <p:cNvSpPr txBox="1"/>
          <p:nvPr/>
        </p:nvSpPr>
        <p:spPr>
          <a:xfrm>
            <a:off x="4956048" y="3648455"/>
            <a:ext cx="23774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85232" y="3602735"/>
            <a:ext cx="33375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8F0"/>
                </a:solidFill>
              </a:rPr>
              <a:t>Risk score computed (velocity + amount rules)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56048" y="3931919"/>
            <a:ext cx="237744" cy="237744"/>
          </a:xfrm>
          <a:prstGeom prst="rect">
            <a:avLst/>
          </a:prstGeom>
          <a:solidFill>
            <a:srgbClr val="0AA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0" name="TextBox 59"/>
          <p:cNvSpPr txBox="1"/>
          <p:nvPr/>
        </p:nvSpPr>
        <p:spPr>
          <a:xfrm>
            <a:off x="4956048" y="3941063"/>
            <a:ext cx="23774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285232" y="3895343"/>
            <a:ext cx="33375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8F0"/>
                </a:solidFill>
              </a:rPr>
              <a:t>Idempotency key generated (MD5 → UUID)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956048" y="4224527"/>
            <a:ext cx="237744" cy="23774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3" name="TextBox 62"/>
          <p:cNvSpPr txBox="1"/>
          <p:nvPr/>
        </p:nvSpPr>
        <p:spPr>
          <a:xfrm>
            <a:off x="4912233" y="4233671"/>
            <a:ext cx="3063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85232" y="4187951"/>
            <a:ext cx="33375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8F0"/>
                </a:solidFill>
              </a:rPr>
              <a:t>P2P debit/credit executed atomically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956048" y="4517136"/>
            <a:ext cx="237744" cy="237744"/>
          </a:xfrm>
          <a:prstGeom prst="rect">
            <a:avLst/>
          </a:prstGeom>
          <a:solidFill>
            <a:srgbClr val="0AA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6" name="TextBox 65"/>
          <p:cNvSpPr txBox="1"/>
          <p:nvPr/>
        </p:nvSpPr>
        <p:spPr>
          <a:xfrm>
            <a:off x="4923663" y="4526279"/>
            <a:ext cx="3063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85232" y="4480559"/>
            <a:ext cx="33375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8F0"/>
                </a:solidFill>
              </a:rPr>
              <a:t>Transaction appended to immutable audit log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4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8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2C49A"/>
                </a:solidFill>
              </a:rPr>
              <a:t>TALKPAY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6400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C93BB"/>
                </a:solidFill>
              </a:rPr>
              <a:t>11 — Roadmap +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40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C93BB"/>
                </a:solidFill>
              </a:rPr>
              <a:t>12/12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58335"/>
            <a:ext cx="5486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12C49A"/>
                </a:solidFill>
              </a:rPr>
              <a:t>ROADMAP &amp; 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38912"/>
            <a:ext cx="8321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From prototype </a:t>
            </a:r>
            <a:r>
              <a:rPr sz="2400" b="1">
                <a:solidFill>
                  <a:srgbClr val="12C49A"/>
                </a:solidFill>
              </a:rPr>
              <a:t>to global platform.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170432"/>
            <a:ext cx="2029968" cy="3200400"/>
          </a:xfrm>
          <a:prstGeom prst="rect">
            <a:avLst/>
          </a:prstGeom>
          <a:solidFill>
            <a:srgbClr val="0C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" y="1170432"/>
            <a:ext cx="2029968" cy="41148"/>
          </a:xfrm>
          <a:prstGeom prst="rect">
            <a:avLst/>
          </a:prstGeom>
          <a:solidFill>
            <a:srgbClr val="12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26187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2C49A"/>
                </a:solidFill>
              </a:rPr>
              <a:t>✓ BUILT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1790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C93BB"/>
                </a:solidFill>
              </a:rPr>
              <a:t>Apr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" y="1856231"/>
            <a:ext cx="91440" cy="91440"/>
          </a:xfrm>
          <a:prstGeom prst="rect">
            <a:avLst/>
          </a:prstGeom>
          <a:solidFill>
            <a:srgbClr val="12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8952" y="178308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8F0"/>
                </a:solidFill>
              </a:rPr>
              <a:t>Voice payment pipeline (end-to-end)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72" y="2203704"/>
            <a:ext cx="91440" cy="91440"/>
          </a:xfrm>
          <a:prstGeom prst="rect">
            <a:avLst/>
          </a:prstGeom>
          <a:solidFill>
            <a:srgbClr val="12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52" y="213055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8F0"/>
                </a:solidFill>
              </a:rPr>
              <a:t>Beneficiary verification + confirmation loop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" y="2551176"/>
            <a:ext cx="91440" cy="91440"/>
          </a:xfrm>
          <a:prstGeom prst="rect">
            <a:avLst/>
          </a:prstGeom>
          <a:solidFill>
            <a:srgbClr val="12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8952" y="247802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8F0"/>
                </a:solidFill>
              </a:rPr>
              <a:t>PIN + OTP multi-factor auth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" y="2898648"/>
            <a:ext cx="91440" cy="91440"/>
          </a:xfrm>
          <a:prstGeom prst="rect">
            <a:avLst/>
          </a:prstGeom>
          <a:solidFill>
            <a:srgbClr val="12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" y="282549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8F0"/>
                </a:solidFill>
              </a:rPr>
              <a:t>Idempotency controls + risk engine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" y="3246120"/>
            <a:ext cx="91440" cy="91440"/>
          </a:xfrm>
          <a:prstGeom prst="rect">
            <a:avLst/>
          </a:prstGeom>
          <a:solidFill>
            <a:srgbClr val="12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8952" y="317296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8F0"/>
                </a:solidFill>
              </a:rPr>
              <a:t>React/TypeScript frontend on Vercel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40" y="1170432"/>
            <a:ext cx="2029968" cy="3200400"/>
          </a:xfrm>
          <a:prstGeom prst="rect">
            <a:avLst/>
          </a:prstGeom>
          <a:solidFill>
            <a:srgbClr val="0C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606040" y="1170432"/>
            <a:ext cx="2029968" cy="41148"/>
          </a:xfrm>
          <a:prstGeom prst="rect">
            <a:avLst/>
          </a:prstGeom>
          <a:solidFill>
            <a:srgbClr val="2D7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43200" y="126187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70F7"/>
                </a:solidFill>
              </a:rPr>
              <a:t>Q2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151790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C93BB"/>
                </a:solidFill>
              </a:rPr>
              <a:t>Upcoming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70632" y="1856231"/>
            <a:ext cx="91440" cy="91440"/>
          </a:xfrm>
          <a:prstGeom prst="rect">
            <a:avLst/>
          </a:prstGeom>
          <a:solidFill>
            <a:srgbClr val="2D7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953512" y="178308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8F0"/>
                </a:solidFill>
              </a:rPr>
              <a:t>Voice biometric authentication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70632" y="2203704"/>
            <a:ext cx="91440" cy="91440"/>
          </a:xfrm>
          <a:prstGeom prst="rect">
            <a:avLst/>
          </a:prstGeom>
          <a:solidFill>
            <a:srgbClr val="2D7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953512" y="213055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8F0"/>
                </a:solidFill>
              </a:rPr>
              <a:t>Smart expense tracking dashboard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70632" y="2551176"/>
            <a:ext cx="91440" cy="91440"/>
          </a:xfrm>
          <a:prstGeom prst="rect">
            <a:avLst/>
          </a:prstGeom>
          <a:solidFill>
            <a:srgbClr val="2D7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953512" y="247802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8F0"/>
                </a:solidFill>
              </a:rPr>
              <a:t>Mobile-native app (React Native)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70632" y="2898648"/>
            <a:ext cx="91440" cy="91440"/>
          </a:xfrm>
          <a:prstGeom prst="rect">
            <a:avLst/>
          </a:prstGeom>
          <a:solidFill>
            <a:srgbClr val="2D7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953512" y="282549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8F0"/>
                </a:solidFill>
              </a:rPr>
              <a:t>Enhanced fraud detection ML layer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00600" y="1170432"/>
            <a:ext cx="2029968" cy="3200400"/>
          </a:xfrm>
          <a:prstGeom prst="rect">
            <a:avLst/>
          </a:prstGeom>
          <a:solidFill>
            <a:srgbClr val="0C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800600" y="1170432"/>
            <a:ext cx="2029968" cy="411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937760" y="126187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A623"/>
                </a:solidFill>
              </a:rPr>
              <a:t>Q3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7760" y="151790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C93BB"/>
                </a:solidFill>
              </a:rPr>
              <a:t>Scale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65192" y="1856231"/>
            <a:ext cx="91440" cy="91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148072" y="178308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8F0"/>
                </a:solidFill>
              </a:rPr>
              <a:t>IVR / offline mode for unbanked users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65192" y="2203704"/>
            <a:ext cx="91440" cy="91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48072" y="213055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8F0"/>
                </a:solidFill>
              </a:rPr>
              <a:t>AI financial advisor robo-advisory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65192" y="2551176"/>
            <a:ext cx="91440" cy="91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148072" y="247802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8F0"/>
                </a:solidFill>
              </a:rPr>
              <a:t>Adaptive risk profiles (elderly/child modes)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65192" y="2898648"/>
            <a:ext cx="91440" cy="91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48072" y="282549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8F0"/>
                </a:solidFill>
              </a:rPr>
              <a:t>B2B white-label SaaS pilot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95159" y="1170432"/>
            <a:ext cx="2029968" cy="3200400"/>
          </a:xfrm>
          <a:prstGeom prst="rect">
            <a:avLst/>
          </a:prstGeom>
          <a:solidFill>
            <a:srgbClr val="0C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995159" y="1170432"/>
            <a:ext cx="2029968" cy="411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132320" y="126187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</a:rPr>
              <a:t>Q4 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32320" y="151790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C93BB"/>
                </a:solidFill>
              </a:rPr>
              <a:t>Enterprise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159751" y="1856231"/>
            <a:ext cx="9144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342631" y="178308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8F0"/>
                </a:solidFill>
              </a:rPr>
              <a:t>DFSA regulatory sandbox entry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59751" y="2203704"/>
            <a:ext cx="9144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342631" y="213055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8F0"/>
                </a:solidFill>
              </a:rPr>
              <a:t>Telecom + remittance integrations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159751" y="2551176"/>
            <a:ext cx="9144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342631" y="247802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8F0"/>
                </a:solidFill>
              </a:rPr>
              <a:t>Enterprise API marketplace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59751" y="2898648"/>
            <a:ext cx="9144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342631" y="282549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8F0"/>
                </a:solidFill>
              </a:rPr>
              <a:t>Series A fundraise readiness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" y="4498848"/>
            <a:ext cx="8321040" cy="475488"/>
          </a:xfrm>
          <a:prstGeom prst="rect">
            <a:avLst/>
          </a:prstGeom>
          <a:solidFill>
            <a:srgbClr val="1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411480" y="4498848"/>
            <a:ext cx="8321040" cy="41148"/>
          </a:xfrm>
          <a:prstGeom prst="rect">
            <a:avLst/>
          </a:prstGeom>
          <a:solidFill>
            <a:srgbClr val="12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982257" y="4553712"/>
            <a:ext cx="5362366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dirty="0">
                <a:solidFill>
                  <a:srgbClr val="12C49A"/>
                </a:solidFill>
              </a:rPr>
              <a:t>Vision: </a:t>
            </a:r>
            <a:r>
              <a:rPr sz="1000" dirty="0">
                <a:solidFill>
                  <a:srgbClr val="FFFFFF"/>
                </a:solidFill>
              </a:rPr>
              <a:t>The next billion people deserve to manage money as easily as having a conversation. </a:t>
            </a:r>
            <a:endParaRPr lang="en-IN" sz="1000" dirty="0">
              <a:solidFill>
                <a:srgbClr val="FFFFFF"/>
              </a:solidFill>
            </a:endParaRPr>
          </a:p>
          <a:p>
            <a:pPr algn="ctr"/>
            <a:r>
              <a:rPr sz="1000" dirty="0" err="1">
                <a:solidFill>
                  <a:srgbClr val="7C93BB"/>
                </a:solidFill>
              </a:rPr>
              <a:t>TalkPay</a:t>
            </a:r>
            <a:r>
              <a:rPr sz="1000" dirty="0">
                <a:solidFill>
                  <a:srgbClr val="7C93BB"/>
                </a:solidFill>
              </a:rPr>
              <a:t> is the trusted voice layer that makes it possible — today in the UAE, tomorrow everywhere.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1464</Words>
  <Application>Microsoft Office PowerPoint</Application>
  <PresentationFormat>On-screen Show (16:9)</PresentationFormat>
  <Paragraphs>335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S0NALIKA BEOHAR</cp:lastModifiedBy>
  <cp:revision>10</cp:revision>
  <dcterms:created xsi:type="dcterms:W3CDTF">2013-01-27T09:14:16Z</dcterms:created>
  <dcterms:modified xsi:type="dcterms:W3CDTF">2026-04-11T07:18:13Z</dcterms:modified>
  <cp:category/>
</cp:coreProperties>
</file>